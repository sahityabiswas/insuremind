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7cb464e6954a5f" /><Relationship Type="http://schemas.openxmlformats.org/officeDocument/2006/relationships/extended-properties" Target="/docProps/app.xml" Id="Rfb533b1a97bd48f2" /><Relationship Type="http://schemas.openxmlformats.org/officeDocument/2006/relationships/officeDocument" Target="/ppt/presentation.xml" Id="R625809a614ef40da" /></Relationships>
</file>

<file path=ppt/presentation.xml><?xml version="1.0" encoding="utf-8"?>
<p:presentation xmlns:p="http://schemas.openxmlformats.org/presentationml/2006/main">
  <p:sldMasterIdLst>
    <p:sldMasterId xmlns:r="http://schemas.openxmlformats.org/officeDocument/2006/relationships" id="2147483648" r:id="Rb4821ef9d1ea4fee"/>
  </p:sldMasterIdLst>
  <p:notesMasterIdLst>
    <p:notesMasterId xmlns:r="http://schemas.openxmlformats.org/officeDocument/2006/relationships" r:id="Re4e4b5a42b1a4ce0"/>
  </p:notesMasterIdLst>
  <p:sldIdLst>
    <p:sldId xmlns:r="http://schemas.openxmlformats.org/officeDocument/2006/relationships" id="256" r:id="Rbbe4793f61704d85"/>
    <p:sldId xmlns:r="http://schemas.openxmlformats.org/officeDocument/2006/relationships" id="257" r:id="R16a894cc085740c3"/>
    <p:sldId xmlns:r="http://schemas.openxmlformats.org/officeDocument/2006/relationships" id="258" r:id="R4363eed597094565"/>
    <p:sldId xmlns:r="http://schemas.openxmlformats.org/officeDocument/2006/relationships" id="259" r:id="Re146c607b13b4673"/>
    <p:sldId xmlns:r="http://schemas.openxmlformats.org/officeDocument/2006/relationships" id="260" r:id="Re74474362e94418a"/>
    <p:sldId xmlns:r="http://schemas.openxmlformats.org/officeDocument/2006/relationships" id="261" r:id="R305503adb29e4abd"/>
    <p:sldId xmlns:r="http://schemas.openxmlformats.org/officeDocument/2006/relationships" id="262" r:id="R42138385d5ff4946"/>
    <p:sldId xmlns:r="http://schemas.openxmlformats.org/officeDocument/2006/relationships" id="263" r:id="R3395bbfd492644e8"/>
    <p:sldId xmlns:r="http://schemas.openxmlformats.org/officeDocument/2006/relationships" id="264" r:id="R0dd8fc2a41164802"/>
    <p:sldId xmlns:r="http://schemas.openxmlformats.org/officeDocument/2006/relationships" id="265" r:id="Rcb9e9d66acf44e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47f561bbee4d98" /><Relationship Type="http://schemas.openxmlformats.org/officeDocument/2006/relationships/slideMaster" Target="/ppt/slideMasters/slideMaster1.xml" Id="Rb4821ef9d1ea4fee" /><Relationship Type="http://schemas.openxmlformats.org/officeDocument/2006/relationships/notesMaster" Target="/ppt/notesMasters/notesMaster1.xml" Id="Re4e4b5a42b1a4ce0" /><Relationship Type="http://schemas.openxmlformats.org/officeDocument/2006/relationships/presProps" Target="/ppt/presProps.xml" Id="R0dd29983be994a71" /><Relationship Type="http://schemas.openxmlformats.org/officeDocument/2006/relationships/tableStyles" Target="/ppt/tableStyles.xml" Id="R4e5b294d1fef4dd0" /><Relationship Type="http://schemas.openxmlformats.org/officeDocument/2006/relationships/slide" Target="/ppt/slides/slide1.xml" Id="Rbbe4793f61704d85" /><Relationship Type="http://schemas.openxmlformats.org/officeDocument/2006/relationships/slide" Target="/ppt/slides/slide2.xml" Id="R16a894cc085740c3" /><Relationship Type="http://schemas.openxmlformats.org/officeDocument/2006/relationships/slide" Target="/ppt/slides/slide3.xml" Id="R4363eed597094565" /><Relationship Type="http://schemas.openxmlformats.org/officeDocument/2006/relationships/slide" Target="/ppt/slides/slide4.xml" Id="Re146c607b13b4673" /><Relationship Type="http://schemas.openxmlformats.org/officeDocument/2006/relationships/slide" Target="/ppt/slides/slide5.xml" Id="Re74474362e94418a" /><Relationship Type="http://schemas.openxmlformats.org/officeDocument/2006/relationships/slide" Target="/ppt/slides/slide6.xml" Id="R305503adb29e4abd" /><Relationship Type="http://schemas.openxmlformats.org/officeDocument/2006/relationships/slide" Target="/ppt/slides/slide7.xml" Id="R42138385d5ff4946" /><Relationship Type="http://schemas.openxmlformats.org/officeDocument/2006/relationships/slide" Target="/ppt/slides/slide8.xml" Id="R3395bbfd492644e8" /><Relationship Type="http://schemas.openxmlformats.org/officeDocument/2006/relationships/slide" Target="/ppt/slides/slide9.xml" Id="R0dd8fc2a41164802" /><Relationship Type="http://schemas.openxmlformats.org/officeDocument/2006/relationships/slide" Target="/ppt/slides/slide10.xml" Id="Rcb9e9d66acf44e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7b1fefe22e40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f19fcc3a2425e" /><Relationship Type="http://schemas.openxmlformats.org/officeDocument/2006/relationships/notesMaster" Target="/ppt/notesMasters/notesMaster1.xml" Id="R0f1647ed32dc4c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b2575232764709" /><Relationship Type="http://schemas.openxmlformats.org/officeDocument/2006/relationships/notesMaster" Target="/ppt/notesMasters/notesMaster1.xml" Id="R9b66a705039e41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7a624bc2484211" /><Relationship Type="http://schemas.openxmlformats.org/officeDocument/2006/relationships/notesMaster" Target="/ppt/notesMasters/notesMaster1.xml" Id="R372ecd03106e4b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e9103e19714bbb" /><Relationship Type="http://schemas.openxmlformats.org/officeDocument/2006/relationships/notesMaster" Target="/ppt/notesMasters/notesMaster1.xml" Id="Rf2dc013257464e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6855bbc6ed46df" /><Relationship Type="http://schemas.openxmlformats.org/officeDocument/2006/relationships/notesMaster" Target="/ppt/notesMasters/notesMaster1.xml" Id="R960f1062a5554b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ca647b708644dc" /><Relationship Type="http://schemas.openxmlformats.org/officeDocument/2006/relationships/notesMaster" Target="/ppt/notesMasters/notesMaster1.xml" Id="Rb5ec6998d84740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4e034530744968" /><Relationship Type="http://schemas.openxmlformats.org/officeDocument/2006/relationships/notesMaster" Target="/ppt/notesMasters/notesMaster1.xml" Id="R09bf167b650d42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a0aed00ccb4457" /><Relationship Type="http://schemas.openxmlformats.org/officeDocument/2006/relationships/notesMaster" Target="/ppt/notesMasters/notesMaster1.xml" Id="Ra500f3261f3b47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9f88b2381d4f14" /><Relationship Type="http://schemas.openxmlformats.org/officeDocument/2006/relationships/notesMaster" Target="/ppt/notesMasters/notesMaster1.xml" Id="Rf436c62578ff4e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31f7c9fd7447e0" /><Relationship Type="http://schemas.openxmlformats.org/officeDocument/2006/relationships/notesMaster" Target="/ppt/notesMasters/notesMaster1.xml" Id="Rb93682c0859649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30 seconds.</a:t>
            </a:r>
          </a:p>
          <a:p xmlns:a="http://schemas.openxmlformats.org/drawingml/2006/main">
            <a:r>
              <a:t>Introduce yourself and the project as an interim academic update. The current system is an offline research prototype with a local text demonstration. The central question concerns adaptive insurance sales strategy selection. It does not issue policies, collect payments, or negotiate claim payouts.</a:t>
            </a:r>
          </a:p>
          <a:p xmlns:a="http://schemas.openxmlformats.org/drawingml/2006/main">
            <a:r>
              <a:t>Student, registration number, course, university, and guide information come from the student's supplied details.</a:t>
            </a:r>
          </a:p>
          <a:p xmlns:a="http://schemas.openxmlformats.org/drawingml/2006/main">
            <a:r>
              <a:t>Project source: D:/insurence seller/Insurance_Sales_RL_Agent_Project_Specification.md.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research problem is choosing the next useful sales action over a multi-turn conversation. A customer may ask about price, express distrust, reveal existing cover, or ask to stop. A fixed sequence cannot adapt to every state. This project tests whether a PPO policy can use an explicitly structured state to choose suitable actions.</a:t>
            </a:r>
          </a:p>
          <a:p xmlns:a="http://schemas.openxmlformats.org/drawingml/2006/main">
            <a:r>
              <a:t>The objective balances engagement, objection handling and suitable outcomes with penalties for pressure, repetition and unsupported information. Appropriate conversion is one component of reward, not the sole objective. This is a simulated research question, not a claim of improved real-world sales.</a:t>
            </a:r>
          </a:p>
          <a:p xmlns:a="http://schemas.openxmlformats.org/drawingml/2006/main">
            <a:r>
              <a:t>Project source: D:/insurence seller/Insurance_Sales_RL_Agent_Project_Specification.md, sections 1, 18-21 and reward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literature survey follows the supplied AI_Negotiation_Research_Insurance_v2.docx, particularly its Verified Research Notes, rather than its uncorrected mechanism column. Five of its fifteen studies are selected because they most directly inform this prototype.</a:t>
            </a:r>
          </a:p>
          <a:p xmlns:a="http://schemas.openxmlformats.org/drawingml/2006/main">
            <a:r>
              <a:t>Bagga et al. use actor-critic reinforcement learning with supervised pre-training, not a DQN. Sengupta et al. classify opponents and switch or combine strategies, which motivates behavior-aware state features but is not a module implemented here. Renting et al. use graph representations and graph neural policies for transfer across negotiation problems. This project has a fixed 94-feature linear policy and does not implement that generalization technique. Karande et al. propose a multi-agent LLM persuasion framework explicitly including insurance. The venue is ICON 2024, not ACL 2024. AgenticPay is a negotiation benchmark and simulation framework, not the seven-agent insurance pipeline sketched in the review's original column.</a:t>
            </a:r>
          </a:p>
          <a:p xmlns:a="http://schemas.openxmlformats.org/drawingml/2006/main">
            <a:r>
              <a:t>Most insurer-customer claim-settlement examples in the supplied document are application analogies. The current project concerns insurance sales dialogue and does not settle claims. Connections in the right column are project design interpretations, not evidence that the papers validate this implementation.</a:t>
            </a:r>
          </a:p>
          <a:p xmlns:a="http://schemas.openxmlformats.org/drawingml/2006/main">
            <a:r>
              <a:t>Supplied survey: D:/insurence seller/AI_Negotiation_Research_Insurance_v2.docx.</a:t>
            </a:r>
          </a:p>
          <a:p xmlns:a="http://schemas.openxmlformats.org/drawingml/2006/main">
            <a:r>
              <a:t>Selected primary references:</a:t>
            </a:r>
          </a:p>
          <a:p xmlns:a="http://schemas.openxmlformats.org/drawingml/2006/main">
            <a:r>
              <a:t>[1] Pallavi Bagga, Nicola Paoletti, Bedour Alrayes, Kostas Stathis. A Deep Reinforcement Learning Approach to Concurrent Bilateral Negotiation. IJCAI 2020, pp. 297-303. https://www.ijcai.org/proceedings/2020/42</a:t>
            </a:r>
          </a:p>
          <a:p xmlns:a="http://schemas.openxmlformats.org/drawingml/2006/main">
            <a:r>
              <a:t>[2] Ayan Sengupta, Yasser Mohammad, Shinji Nakadai. An Autonomous Negotiating Agent Framework with Reinforcement Learning Based Strategies and Adaptive Strategy Switching Mechanism. AAMAS 2021. https://arxiv.org/abs/2102.03588</a:t>
            </a:r>
          </a:p>
          <a:p xmlns:a="http://schemas.openxmlformats.org/drawingml/2006/main">
            <a:r>
              <a:t>[3] Bram M. Renting, Thomas M. Moerland, Holger H. Hoos, Catholijn M. Jonker. Towards General Negotiation Strategies with End-to-End Reinforcement Learning. RLC 2024. https://arxiv.org/abs/2406.15096</a:t>
            </a:r>
          </a:p>
          <a:p xmlns:a="http://schemas.openxmlformats.org/drawingml/2006/main">
            <a:r>
              <a:t>[4] Shirish Karande, Santhosh V, Yash Bhatia. Persuasion Games with Large Language Models. ICON 2024, pp. 576-582. https://aclanthology.org/2024.icon-1.67/</a:t>
            </a:r>
          </a:p>
          <a:p xmlns:a="http://schemas.openxmlformats.org/drawingml/2006/main">
            <a:r>
              <a:t>[5] Xianyang Liu, Shangding Gu, Dawn Song. AgenticPay: A Multi-Agent LLM Negotiation System for Buyer-Seller Transactions. arXiv preprint, 2026. https://arxiv.org/abs/2602.06008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architecture separates three responsibilities. PPO proposes a discrete action. A structured product/rule engine applies need, age and budget eligibility and supplies verified synthetic facts. The LLM verbalizes the assigned strategy, while templates provide a deterministic fallback. The trained RL policy never generates free text.</a:t>
            </a:r>
          </a:p>
          <a:p xmlns:a="http://schemas.openxmlformats.org/drawingml/2006/main">
            <a:r>
              <a:t>The product catalogue contains eight synthetic records with coverage, sum insured, premium bands, waiting periods and exclusions. It has no numeric rupee premium or billing schedule, so the agent cannot quote an exact payment.</a:t>
            </a:r>
          </a:p>
          <a:p xmlns:a="http://schemas.openxmlformats.org/drawingml/2006/main">
            <a:r>
              <a:t>In the live demo, explicit cues for ambiguous amounts, payment questions and initial discovery constrain the proposed action. The decision trace records the original proposal, selected action and reason. Therefore a live selected action should not automatically be attributed solely to PPO. Numeric, repetition and role/task guards are lexical checks and do not prove semantic factuality or regulatory compliance.</a:t>
            </a:r>
          </a:p>
          <a:p xmlns:a="http://schemas.openxmlformats.org/drawingml/2006/main">
            <a:r>
              <a:t>Project sources: src/conversation.py, src/generation.py, src/state_products.py and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default experiment uses only project-generated synthetic data. There are 1,200 conversations with 20,396 total dialogue turns and 3,000 synthetic customer profiles. Conversation counts in the actual grouped split are 812 training, 164 validation and 224 test. These differ from an exact 70/15/15 split because scenario and normalized-transcript groups are indivisible. The turn count includes both buyer and seller records.</a:t>
            </a:r>
          </a:p>
          <a:p xmlns:a="http://schemas.openxmlformats.org/drawingml/2006/main">
            <a:r>
              <a:t>Four Multinomial Naive Bayes classifiers predict intent, emotion, objection and stage. Entity rules extract needs, budget, existing coverage and explicit stop requests. Live explicit cues correct known cases such as a family coverage request versus family-approval objection and an unqualified amount versus a premium. The original model predictions remain available in the trace.</a:t>
            </a:r>
          </a:p>
          <a:p xmlns:a="http://schemas.openxmlformats.org/drawingml/2006/main">
            <a:r>
              <a:t>Held-out synthetic accuracy is 100% for intent and objection, 53.7% for emotion and 37.0% for stage over 1,848 test examples. Repeated synthetic wording explains why perfect intent/objection metrics should not be interpreted as real-customer accuracy. No public corpus was used in this default run. Simulator states use simulated ground truth, whereas live states rely on NLP estimates, creating a transfer gap.</a:t>
            </a:r>
          </a:p>
          <a:p xmlns:a="http://schemas.openxmlformats.org/drawingml/2006/main">
            <a:r>
              <a:t>Project sources: docs/dataset_card.md, docs/methodology.md, src/nlp.py, results/reports/report.md.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top diagram shows a live conversation turn. Text enters the understanding models and entity rules. State encoding produces the 94-dimensional vector. The policy selects a masked action, explicit live task constraints may adjust it, and the product engine supplies eligible facts to the response generator. A guard accepts the response or uses a verified template fallback. The response and context feed the next buyer turn. Live sessions load a saved checkpoint and do not update the policy.</a:t>
            </a:r>
          </a:p>
          <a:p xmlns:a="http://schemas.openxmlformats.org/drawingml/2006/main">
            <a:r>
              <a:t>The bottom diagram shows the offline training loop. A customer simulator generates state transitions after selected actions. Reward events and value estimates populate a rollout buffer. GAE and clipped PPO update the actor and critic before further simulated interaction. The environment follows Gymnasium reset/step with distinct termination and truncation. The simulator responds to action and product eligibility, not a semantic analysis of LLM wording.</a:t>
            </a:r>
          </a:p>
          <a:p xmlns:a="http://schemas.openxmlformats.org/drawingml/2006/main">
            <a:r>
              <a:t>Project sources: src/nlp.py, src/state_products.py, src/conversation.py, src/generation.py, src/sim_env.py, src/ppo_numpy.py.</a:t>
            </a:r>
          </a:p>
          <a:p xmlns:a="http://schemas.openxmlformats.org/drawingml/2006/main">
            <a:r>
              <a:t>Environment contract: https://gymnasium.farama.org/api/env/.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training environment exposes a compact observation, a discrete action and a reward at each turn. The 94 features comprise 72 categorical one-hot features, eight bounded behavioral/turn/budget features, eight emotion probabilities, three existing-coverage indicators and three previous-reaction indicators. A linear masked softmax actor chooses one of sixteen actions and a linear critic estimates value.</a:t>
            </a:r>
          </a:p>
          <a:p xmlns:a="http://schemas.openxmlformats.org/drawingml/2006/main">
            <a:r>
              <a:t>The action groups on the slide contain every implemented action. They cover discovery, education, handling concerns and outcomes, including respectful rejection. Masking blocks premature product actions and commitment, ineligible product recommendations, and continued selling after an explicit stop request. A true terminal event disables value bootstrapping. A time-limit truncation bootstraps the value but stops GAE propagation across reset. The episode limit is 20 turns.</a:t>
            </a:r>
          </a:p>
          <a:p xmlns:a="http://schemas.openxmlformats.org/drawingml/2006/main">
            <a:r>
              <a:t>The table shows selected exact reward weights from configs/base.yaml. Additional weights are need discovery +0.2, useful clarification +0.1, objection resolution +0.3, engagement +0.3 and trust +0.3. Repetition costs -0.3, premature closing -0.5 and frustration -1.0. Multiple event rewards can apply to one transition. These are configured simulator signals, not calibrated measures of human welfare.</a:t>
            </a:r>
          </a:p>
          <a:p xmlns:a="http://schemas.openxmlformats.org/drawingml/2006/main">
            <a:r>
              <a:t>Project sources: src/state_products.py, src/common.py, src/sim_env.py and configs/base.yaml.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90 seconds.</a:t>
            </a:r>
          </a:p>
          <a:p xmlns:a="http://schemas.openxmlformats.org/drawingml/2006/main">
            <a:r>
              <a:t>This experiment uses a portable NumPy linear actor-critic PPO implementation. Stable Baselines3 is present in the environment, but Windows Application Control blocks the Torch DLL, so the recorded runnable experiment uses NumPy. The actor is a linear masked softmax and the critic is linear. Supervised action weights warm-start the actor. This is a reference implementation and should be compared against a maintained RL library when the environment permits.</a:t>
            </a:r>
          </a:p>
          <a:p xmlns:a="http://schemas.openxmlformats.org/drawingml/2006/main">
            <a:r>
              <a:t>Rollouts save state, action, old masked log probability, reward, value, next value and boundary flags. GAE uses gamma 0.99 and lambda 0.95. The critic receives raw return targets, while the actor receives normalized advantages. The displayed surrogate clips the probability ratio to [0.8, 1.2], corresponding to epsilon 0.2. Actor optimization adds entropy regularization with coefficient 0.01. Adam updates shuffled minibatches with gradient norm limited to 0.5.</a:t>
            </a:r>
          </a:p>
          <a:p xmlns:a="http://schemas.openxmlformats.org/drawingml/2006/main">
            <a:r>
              <a:t>The chart plots the actual rolling mean over the latest 100 training episodes at each rollout update for seed 42. It is variable and does not demonstrate monotonic convergence. It measures training reward, not held-out performance. The final checkpoint is stored as results/checkpoints/ppo.npz.</a:t>
            </a:r>
          </a:p>
          <a:p xmlns:a="http://schemas.openxmlformats.org/drawingml/2006/main">
            <a:r>
              <a:t>Hyperparameters: 20,000 timesteps per seed, rollout length 1,024, minibatch 256, four epochs, learning rate 0.0003.</a:t>
            </a:r>
          </a:p>
          <a:p xmlns:a="http://schemas.openxmlformats.org/drawingml/2006/main">
            <a:r>
              <a:t>Project sources: src/ppo_numpy.py, configs/base.yaml, experiments/ppo_seed_42/run.json, docs/methodology.md.</a:t>
            </a:r>
          </a:p>
          <a:p xmlns:a="http://schemas.openxmlformats.org/drawingml/2006/main">
            <a:r>
              <a:t>Method sources: John Schulman et al. Proximal Policy Optimization Algorithms, 2017. https://arxiv.org/abs/1707.06347</a:t>
            </a:r>
          </a:p>
          <a:p xmlns:a="http://schemas.openxmlformats.org/drawingml/2006/main">
            <a:r>
              <a:t>John Schulman et al. High-Dimensional Continuous Control Using Generalized Advantage Estimation, 2015 preprint / ICLR 2016. https://arxiv.org/abs/1506.02438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85 seconds.</a:t>
            </a:r>
          </a:p>
          <a:p xmlns:a="http://schemas.openxmlformats.org/drawingml/2006/main">
            <a:r>
              <a:t>Results are seed means from the saved project benchmark. Baselines use three independently trained seeds, 42, 43 and 44, and 200 held-out simulated episodes per seed, with the same initial evaluation scenario seeds, products and turn limits. Every trained run has 20,000 timesteps.</a:t>
            </a:r>
          </a:p>
          <a:p xmlns:a="http://schemas.openxmlformats.org/drawingml/2006/main">
            <a:r>
              <a:t>Mean rewards are random 2.6222, rule 3.8602, supervised 3.6260 and PPO 4.1195. Mean conversion rates are random 0.33%, rule 12.33%, supervised 0% and PPO 5.17%. The composite reward and conversion metric favor different policies. PPO has 78.20% objection resolution versus 69.70% for the rule policy, measured only over episodes with an initial objection. Satisfaction is 0.6692 for PPO versus 0.6466 for the rule policy.</a:t>
            </a:r>
          </a:p>
          <a:p xmlns:a="http://schemas.openxmlformats.org/drawingml/2006/main">
            <a:r>
              <a:t>The charts show point estimates without error bars. Reward sample SD across seeds: random 0.2101, rule 0.5114, supervised 0.5826, PPO 0.6833. Reward 95% Student-t intervals: random [2.1003,3.1440], rule [2.5896,5.1308], supervised [2.1786,5.0734], PPO [2.4219,5.8171]. Conversion seed SD: random 0.29 percentage points, rule 1.89, supervised 0, PPO 2.84. Three seeds and wide intervals do not establish statistical superiority. The recorded simulator counters report zero pressure, unsupported and unsuitable violations, which reflects the constrained environment and does not demonstrate safe real-world LLM behavior.</a:t>
            </a:r>
          </a:p>
          <a:p xmlns:a="http://schemas.openxmlformats.org/drawingml/2006/main">
            <a:r>
              <a:t>Six ablations were retrained with equal budgets: no emotion, no objection, no yes-yes, reduced actions, conversion-only reward and no supervised initialization. Each uses 100 evaluation episodes per seed. Ablation full-PPO numbers come from a separate evaluation batch and should not be substituted for baseline-table values.</a:t>
            </a:r>
          </a:p>
          <a:p xmlns:a="http://schemas.openxmlformats.org/drawingml/2006/main">
            <a:r>
              <a:t>The direct-LLM baseline and LLM wording ablation were skipped in the original benchmark. Later local LLM smoke tests do not change those results. Live explicit-cue fixes have not been evaluated in a new full benchmark.</a:t>
            </a:r>
          </a:p>
          <a:p xmlns:a="http://schemas.openxmlformats.org/drawingml/2006/main">
            <a:r>
              <a:t>Project source: results/metrics/rl_comparison.csv, results/metrics/ablation.csv (if present), results/reports/report.md, configs/evaluation.yaml.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The screenshot comes from the implemented local UI and a real local Llama 3.2 3B smoke-test conversation. The buyer asks for family health insurance, supplies an ambiguous amount of 250000 and asks about payment. The improved live flow discovers coverage needs, clarifies the amount, and explains that exact premiums require an insurer quote. The screenshot shows the payment turn and decision trace. The displayed basic guard pass is a lexical check, not a guarantee of semantic factuality.</a:t>
            </a:r>
          </a:p>
          <a:p xmlns:a="http://schemas.openxmlformats.org/drawingml/2006/main">
            <a:r>
              <a:t>The demonstration supports text input, PPO or rule actions, local LLM or templates, synthetic eligible products, a decision trace and JSON transcript export. CPU generation took about 31-45 seconds per turn in the three-turn smoke test, which is an observation from one test, not a formal latency benchmark. No speech input or TTS is implemented.</a:t>
            </a:r>
          </a:p>
          <a:p xmlns:a="http://schemas.openxmlformats.org/drawingml/2006/main">
            <a:r>
              <a:t>This is an interim milestone: dataset construction, understanding models, simulator, PPO training, baseline evaluation and a local text demo exist. Remaining research includes broader free-form buyer tests and stronger emotion/stage models, a genuine direct-LLM policy benchmark and wording ablation, public-corpus transfer and human evaluation. Voice is an optional later extension. Production sales would also require genuine insurer product/pricing integration, authorization and compliance review, and operational security. The prototype cannot issue policies, receive payments or settle claims.</a:t>
            </a:r>
          </a:p>
          <a:p xmlns:a="http://schemas.openxmlformats.org/drawingml/2006/main">
            <a:r>
              <a:t>Demo command from the project folder: D:/insurence seller/term_project/Scripts/python.exe demo_server.py. Local URL: http://127.0.0.1:8765/. LLM mode requires Ollama and the configured model.</a:t>
            </a:r>
          </a:p>
          <a:p xmlns:a="http://schemas.openxmlformats.org/drawingml/2006/main">
            <a:r>
              <a:t>Project sources: demo_server.py, web/index.html, src/conversation.py, src/generation.py, docs/specification_status.md. Screenshot: D:/insurence seller/insurance_sales_agent/.runtime/ui-fixed-llm.png.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3d869018341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f34c025cf74da0" /><Relationship Type="http://schemas.openxmlformats.org/officeDocument/2006/relationships/slideLayout" Target="/ppt/slideLayouts/slideLayout1.xml" Id="Rc85ac70206da49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5ac70206da49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c290a512114394" /><Relationship Type="http://schemas.openxmlformats.org/officeDocument/2006/relationships/notesSlide" Target="/ppt/notesSlides/notesSlide1.xml" Id="R23e25ae9b03947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1be2df43c6418e" /><Relationship Type="http://schemas.openxmlformats.org/officeDocument/2006/relationships/notesSlide" Target="/ppt/notesSlides/notesSlide2.xml" Id="R010b7fbb621f41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b005ad4cbb436d" /><Relationship Type="http://schemas.openxmlformats.org/officeDocument/2006/relationships/notesSlide" Target="/ppt/notesSlides/notesSlide3.xml" Id="Ra5a2d9bf4a8841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0fe26dbc084727" /><Relationship Type="http://schemas.openxmlformats.org/officeDocument/2006/relationships/notesSlide" Target="/ppt/notesSlides/notesSlide4.xml" Id="R0940ebfad7c845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e8f9d660ce4381" /><Relationship Type="http://schemas.openxmlformats.org/officeDocument/2006/relationships/notesSlide" Target="/ppt/notesSlides/notesSlide5.xml" Id="R25b39a305de748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2933553823473a" /><Relationship Type="http://schemas.openxmlformats.org/officeDocument/2006/relationships/notesSlide" Target="/ppt/notesSlides/notesSlide6.xml" Id="R3122639a1a8c4e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4d07128b9a469e" /><Relationship Type="http://schemas.openxmlformats.org/officeDocument/2006/relationships/notesSlide" Target="/ppt/notesSlides/notesSlide7.xml" Id="R8f58f50ae1ca41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0775b257444ef2" /><Relationship Type="http://schemas.openxmlformats.org/officeDocument/2006/relationships/chart" Target="/ppt/slides/charts/chart1.xml" Id="R5d59a713169a43f1" /><Relationship Type="http://schemas.openxmlformats.org/officeDocument/2006/relationships/notesSlide" Target="/ppt/notesSlides/notesSlide8.xml" Id="R42a693555221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7f467146224e64" /><Relationship Type="http://schemas.openxmlformats.org/officeDocument/2006/relationships/chart" Target="/ppt/slides/charts/chart2.xml" Id="R50ec4d0969884931" /><Relationship Type="http://schemas.openxmlformats.org/officeDocument/2006/relationships/chart" Target="/ppt/slides/charts/chart3.xml" Id="R4951ca14cc7e4477" /><Relationship Type="http://schemas.openxmlformats.org/officeDocument/2006/relationships/notesSlide" Target="/ppt/notesSlides/notesSlide9.xml" Id="R686c6460d1ba4a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eb2c5ac34749e6" /><Relationship Type="http://schemas.openxmlformats.org/officeDocument/2006/relationships/image" Target="/ppt/media/image.png" Id="Ra7583d353cab419e" /><Relationship Type="http://schemas.openxmlformats.org/officeDocument/2006/relationships/notesSlide" Target="/ppt/notesSlides/notesSlide10.xml" Id="R696338f8691c491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2724"/>
                </a:solidFill>
                <a:latin typeface="Arial"/>
                <a:ea typeface="Arial"/>
                <a:cs typeface="Arial"/>
              </a:rPr>
              <a:t>Training reward, seed 42</a:t>
            </a:r>
          </a:p>
        </c:rich>
      </c:tx>
      <c:overlay val="0"/>
      <c:txPr>
        <a:bodyPr xmlns:a="http://schemas.openxmlformats.org/drawingml/2006/main" anchorCtr="1"/>
        <a:lstStyle xmlns:a="http://schemas.openxmlformats.org/drawingml/2006/main"/>
        <a:p xmlns:a="http://schemas.openxmlformats.org/drawingml/2006/main">
          <a:pPr>
            <a:defRPr sz="1875" b="1">
              <a:solidFill>
                <a:srgbClr val="182724"/>
              </a:solidFill>
              <a:latin typeface="Arial"/>
              <a:ea typeface="Arial"/>
              <a:cs typeface="Arial"/>
            </a:defRPr>
          </a:pPr>
        </a:p>
      </c:txPr>
    </c:title>
    <c:plotArea>
      <c:scatterChart>
        <c:scatterStyle val="line"/>
        <c:ser>
          <c:idx val="0"/>
          <c:order val="0"/>
          <c:tx>
            <c:v>Rolling mean reward</c:v>
          </c:tx>
          <c:spPr>
            <a:ln xmlns:a="http://schemas.openxmlformats.org/drawingml/2006/main" w="28575">
              <a:solidFill>
                <a:srgbClr val="126D55"/>
              </a:solidFill>
            </a:ln>
          </c:spPr>
          <c:marker>
            <c:symbol val="none"/>
          </c:marker>
          <c:xVal>
            <c:numRef>
              <c:f>'Chart Data'!$A$2:$A$21</c:f>
              <c:numCache>
                <c:formatCode>General</c:formatCode>
                <c:ptCount val="20"/>
                <c:pt idx="0">
                  <c:v>1024</c:v>
                </c:pt>
                <c:pt idx="1">
                  <c:v>2048</c:v>
                </c:pt>
                <c:pt idx="2">
                  <c:v>3072</c:v>
                </c:pt>
                <c:pt idx="3">
                  <c:v>4096</c:v>
                </c:pt>
                <c:pt idx="4">
                  <c:v>5120</c:v>
                </c:pt>
                <c:pt idx="5">
                  <c:v>6144</c:v>
                </c:pt>
                <c:pt idx="6">
                  <c:v>7168</c:v>
                </c:pt>
                <c:pt idx="7">
                  <c:v>8192</c:v>
                </c:pt>
                <c:pt idx="8">
                  <c:v>9216</c:v>
                </c:pt>
                <c:pt idx="9">
                  <c:v>10240</c:v>
                </c:pt>
                <c:pt idx="10">
                  <c:v>11264</c:v>
                </c:pt>
                <c:pt idx="11">
                  <c:v>12288</c:v>
                </c:pt>
                <c:pt idx="12">
                  <c:v>13312</c:v>
                </c:pt>
                <c:pt idx="13">
                  <c:v>14336</c:v>
                </c:pt>
                <c:pt idx="14">
                  <c:v>15360</c:v>
                </c:pt>
                <c:pt idx="15">
                  <c:v>16384</c:v>
                </c:pt>
                <c:pt idx="16">
                  <c:v>17408</c:v>
                </c:pt>
                <c:pt idx="17">
                  <c:v>18432</c:v>
                </c:pt>
                <c:pt idx="18">
                  <c:v>19456</c:v>
                </c:pt>
                <c:pt idx="19">
                  <c:v>20000</c:v>
                </c:pt>
              </c:numCache>
            </c:numRef>
          </c:xVal>
          <c:yVal>
            <c:numRef>
              <c:f>'Chart Data'!$B$2:$B$21</c:f>
              <c:numCache>
                <c:formatCode>0.00</c:formatCode>
                <c:ptCount val="20"/>
                <c:pt idx="0">
                  <c:v>3.571</c:v>
                </c:pt>
                <c:pt idx="1">
                  <c:v>3.434</c:v>
                </c:pt>
                <c:pt idx="2">
                  <c:v>3.642</c:v>
                </c:pt>
                <c:pt idx="3">
                  <c:v>4.047</c:v>
                </c:pt>
                <c:pt idx="4">
                  <c:v>3.467</c:v>
                </c:pt>
                <c:pt idx="5">
                  <c:v>4.507</c:v>
                </c:pt>
                <c:pt idx="6">
                  <c:v>4.029</c:v>
                </c:pt>
                <c:pt idx="7">
                  <c:v>4.147</c:v>
                </c:pt>
                <c:pt idx="8">
                  <c:v>3.817</c:v>
                </c:pt>
                <c:pt idx="9">
                  <c:v>3.991</c:v>
                </c:pt>
                <c:pt idx="10">
                  <c:v>4.185</c:v>
                </c:pt>
                <c:pt idx="11">
                  <c:v>4.378</c:v>
                </c:pt>
                <c:pt idx="12">
                  <c:v>4.311</c:v>
                </c:pt>
                <c:pt idx="13">
                  <c:v>4.28</c:v>
                </c:pt>
                <c:pt idx="14">
                  <c:v>4.499</c:v>
                </c:pt>
                <c:pt idx="15">
                  <c:v>4.4</c:v>
                </c:pt>
                <c:pt idx="16">
                  <c:v>4.552</c:v>
                </c:pt>
                <c:pt idx="17">
                  <c:v>5.171</c:v>
                </c:pt>
                <c:pt idx="18">
                  <c:v>3.524</c:v>
                </c:pt>
                <c:pt idx="19">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majorUnit val="2"/>
      </c:valAx>
      <c:valAx>
        <c:axId val="48650112"/>
        <c:scaling>
          <c:orientation val="minMax"/>
          <c:max val="20000"/>
          <c:min val="0"/>
        </c:scaling>
        <c:delete val="0"/>
        <c:axPos val="b"/>
        <c:numFmt formatCode="0,&quot;k&quot;"/>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72768"/>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Mean episode reward</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Mean episode reward</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0.00</c:formatCode>
                <c:ptCount val="4"/>
                <c:pt idx="0">
                  <c:v>2.6222</c:v>
                </c:pt>
                <c:pt idx="1">
                  <c:v>3.8602</c:v>
                </c:pt>
                <c:pt idx="2">
                  <c:v>3.626</c:v>
                </c:pt>
                <c:pt idx="3">
                  <c:v>4.1195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CCD8D2"/>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Simulated conversion</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Simulated conversion</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c:formatCode>
                <c:ptCount val="4"/>
                <c:pt idx="0">
                  <c:v>0.0033</c:v>
                </c:pt>
                <c:pt idx="1">
                  <c:v>0.1233</c:v>
                </c:pt>
                <c:pt idx="2">
                  <c:v>0</c:v>
                </c:pt>
                <c:pt idx="3">
                  <c:v>0.0517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erim Project Update">
            <a:extLst xmlns:a="http://schemas.openxmlformats.org/drawingml/2006/main">
              <a:ext uri="{FF2B5EF4-FFF2-40B4-BE49-F238E27FC236}">
                <a16:creationId xmlns:a16="http://schemas.microsoft.com/office/drawing/2014/main" id="{61AA6D6E-3835-452A-8419-40D0B39D8D93}"/>
              </a:ext>
            </a:extLst>
          </p:cNvPr>
          <p:cNvSpPr>
            <a:spLocks xmlns:a="http://schemas.openxmlformats.org/drawingml/2006/main" noGrp="1"/>
          </p:cNvSpPr>
          <p:nvPr/>
        </p:nvSpPr>
        <p:spPr>
          <a:xfrm xmlns:a="http://schemas.openxmlformats.org/drawingml/2006/main">
            <a:off x="685800" y="533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Interim Project Update</a:t>
            </a:r>
          </a:p>
        </p:txBody>
      </p:sp>
      <p:sp>
        <p:nvSpPr>
          <p:cNvPr id="2" name="Insurance Sales&#10;RL Agent">
            <a:extLst xmlns:a="http://schemas.openxmlformats.org/drawingml/2006/main">
              <a:ext uri="{FF2B5EF4-FFF2-40B4-BE49-F238E27FC236}">
                <a16:creationId xmlns:a16="http://schemas.microsoft.com/office/drawing/2014/main" id="{70B13756-1DC0-419A-B74B-04308C02B249}"/>
              </a:ext>
            </a:extLst>
          </p:cNvPr>
          <p:cNvSpPr>
            <a:spLocks xmlns:a="http://schemas.openxmlformats.org/drawingml/2006/main" noGrp="1"/>
          </p:cNvSpPr>
          <p:nvPr/>
        </p:nvSpPr>
        <p:spPr>
          <a:xfrm xmlns:a="http://schemas.openxmlformats.org/drawingml/2006/main">
            <a:off x="685800" y="13620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Insurance Sales</a:t>
            </a:r>
          </a:p>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RL Agent</a:t>
            </a:r>
          </a:p>
        </p:txBody>
      </p:sp>
      <p:sp>
        <p:nvSpPr>
          <p:cNvPr id="3" name="Emotion-aware strategy selection with PPO">
            <a:extLst xmlns:a="http://schemas.openxmlformats.org/drawingml/2006/main">
              <a:ext uri="{FF2B5EF4-FFF2-40B4-BE49-F238E27FC236}">
                <a16:creationId xmlns:a16="http://schemas.microsoft.com/office/drawing/2014/main" id="{B3301EAF-9DB1-419F-9A72-838EEBDC1140}"/>
              </a:ext>
            </a:extLst>
          </p:cNvPr>
          <p:cNvSpPr>
            <a:spLocks xmlns:a="http://schemas.openxmlformats.org/drawingml/2006/main" noGrp="1"/>
          </p:cNvSpPr>
          <p:nvPr/>
        </p:nvSpPr>
        <p:spPr>
          <a:xfrm xmlns:a="http://schemas.openxmlformats.org/drawingml/2006/main">
            <a:off x="6858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645E"/>
                </a:solidFill>
                <a:latin typeface="Arial"/>
                <a:ea typeface="Arial"/>
                <a:cs typeface="Arial"/>
              </a:defRPr>
            </a:pPr>
            <a:r>
              <a:rPr sz="2400" b="0">
                <a:solidFill>
                  <a:srgbClr val="53645E"/>
                </a:solidFill>
                <a:latin typeface="Arial"/>
                <a:ea typeface="Arial"/>
                <a:cs typeface="Arial"/>
              </a:rPr>
              <a:t>Emotion-aware strategy selection with PPO</a:t>
            </a:r>
          </a:p>
        </p:txBody>
      </p:sp>
      <p:sp>
        <p:nvSpPr>
          <p:cNvPr id="4" name="Sahitya Biswas">
            <a:extLst xmlns:a="http://schemas.openxmlformats.org/drawingml/2006/main">
              <a:ext uri="{FF2B5EF4-FFF2-40B4-BE49-F238E27FC236}">
                <a16:creationId xmlns:a16="http://schemas.microsoft.com/office/drawing/2014/main" id="{9409B21A-C9FC-429F-9087-59F1239B49A1}"/>
              </a:ext>
            </a:extLst>
          </p:cNvPr>
          <p:cNvSpPr>
            <a:spLocks xmlns:a="http://schemas.openxmlformats.org/drawingml/2006/main" noGrp="1"/>
          </p:cNvSpPr>
          <p:nvPr/>
        </p:nvSpPr>
        <p:spPr>
          <a:xfrm xmlns:a="http://schemas.openxmlformats.org/drawingml/2006/main">
            <a:off x="685800" y="41052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Sahitya Biswas</a:t>
            </a:r>
          </a:p>
        </p:txBody>
      </p:sp>
      <p:sp>
        <p:nvSpPr>
          <p:cNvPr id="5" name="Registration No. B2530086">
            <a:extLst xmlns:a="http://schemas.openxmlformats.org/drawingml/2006/main">
              <a:ext uri="{FF2B5EF4-FFF2-40B4-BE49-F238E27FC236}">
                <a16:creationId xmlns:a16="http://schemas.microsoft.com/office/drawing/2014/main" id="{091DE452-94C2-4568-9E44-B52F72CCC2AB}"/>
              </a:ext>
            </a:extLst>
          </p:cNvPr>
          <p:cNvSpPr>
            <a:spLocks xmlns:a="http://schemas.openxmlformats.org/drawingml/2006/main" noGrp="1"/>
          </p:cNvSpPr>
          <p:nvPr/>
        </p:nvSpPr>
        <p:spPr>
          <a:xfrm xmlns:a="http://schemas.openxmlformats.org/drawingml/2006/main">
            <a:off x="685800" y="45624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Registration No. B2530086</a:t>
            </a:r>
          </a:p>
        </p:txBody>
      </p:sp>
      <p:sp>
        <p:nvSpPr>
          <p:cNvPr id="6" name="MSc in Data Science and Artificial Intelligen">
            <a:extLst xmlns:a="http://schemas.openxmlformats.org/drawingml/2006/main">
              <a:ext uri="{FF2B5EF4-FFF2-40B4-BE49-F238E27FC236}">
                <a16:creationId xmlns:a16="http://schemas.microsoft.com/office/drawing/2014/main" id="{0EA67DEA-66B1-40C7-8C7D-11BD30469839}"/>
              </a:ext>
            </a:extLst>
          </p:cNvPr>
          <p:cNvSpPr>
            <a:spLocks xmlns:a="http://schemas.openxmlformats.org/drawingml/2006/main" noGrp="1"/>
          </p:cNvSpPr>
          <p:nvPr/>
        </p:nvSpPr>
        <p:spPr>
          <a:xfrm xmlns:a="http://schemas.openxmlformats.org/drawingml/2006/main">
            <a:off x="685800" y="5010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MSc in Data Science and Artificial Intelligence</a:t>
            </a:r>
          </a:p>
        </p:txBody>
      </p:sp>
      <p:sp>
        <p:nvSpPr>
          <p:cNvPr id="7" name="Ramakrishna Mission Vivekananda Educational a">
            <a:extLst xmlns:a="http://schemas.openxmlformats.org/drawingml/2006/main">
              <a:ext uri="{FF2B5EF4-FFF2-40B4-BE49-F238E27FC236}">
                <a16:creationId xmlns:a16="http://schemas.microsoft.com/office/drawing/2014/main" id="{B291740D-5E8C-4975-8B83-508C1923116F}"/>
              </a:ext>
            </a:extLst>
          </p:cNvPr>
          <p:cNvSpPr>
            <a:spLocks xmlns:a="http://schemas.openxmlformats.org/drawingml/2006/main" noGrp="1"/>
          </p:cNvSpPr>
          <p:nvPr/>
        </p:nvSpPr>
        <p:spPr>
          <a:xfrm xmlns:a="http://schemas.openxmlformats.org/drawingml/2006/main">
            <a:off x="685800" y="54578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Ramakrishna Mission Vivekananda Educational and Research Institute</a:t>
            </a:r>
          </a:p>
        </p:txBody>
      </p:sp>
      <p:sp>
        <p:nvSpPr>
          <p:cNvPr id="8" name="Guide: Champak Dutta">
            <a:extLst xmlns:a="http://schemas.openxmlformats.org/drawingml/2006/main">
              <a:ext uri="{FF2B5EF4-FFF2-40B4-BE49-F238E27FC236}">
                <a16:creationId xmlns:a16="http://schemas.microsoft.com/office/drawing/2014/main" id="{AA284BFE-7987-4F6F-BCD0-2D7D73698ABF}"/>
              </a:ext>
            </a:extLst>
          </p:cNvPr>
          <p:cNvSpPr>
            <a:spLocks xmlns:a="http://schemas.openxmlformats.org/drawingml/2006/main" noGrp="1"/>
          </p:cNvSpPr>
          <p:nvPr/>
        </p:nvSpPr>
        <p:spPr>
          <a:xfrm xmlns:a="http://schemas.openxmlformats.org/drawingml/2006/main">
            <a:off x="685800" y="62007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26D55"/>
                </a:solidFill>
                <a:latin typeface="Arial"/>
                <a:ea typeface="Arial"/>
                <a:cs typeface="Arial"/>
              </a:defRPr>
            </a:pPr>
            <a:r>
              <a:rPr sz="1800" b="0">
                <a:solidFill>
                  <a:srgbClr val="126D55"/>
                </a:solidFill>
                <a:latin typeface="Arial"/>
                <a:ea typeface="Arial"/>
                <a:cs typeface="Arial"/>
              </a:rPr>
              <a:t>Guide: Champak Dutta</a:t>
            </a:r>
          </a:p>
        </p:txBody>
      </p:sp>
    </p:spTree>
    <p:extLst>
      <p:ext uri="{BB962C8B-B14F-4D97-AF65-F5344CB8AC3E}">
        <p14:creationId xmlns:p14="http://schemas.microsoft.com/office/powerpoint/2010/main" val="8007793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oblem Statement and Objectives">
            <a:extLst xmlns:a="http://schemas.openxmlformats.org/drawingml/2006/main">
              <a:ext uri="{FF2B5EF4-FFF2-40B4-BE49-F238E27FC236}">
                <a16:creationId xmlns:a16="http://schemas.microsoft.com/office/drawing/2014/main" id="{73C3C13B-3F75-485E-8A3F-BA16179D370C}"/>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Problem Statement and Objectives</a:t>
            </a:r>
          </a:p>
        </p:txBody>
      </p:sp>
      <p:sp>
        <p:nvSpPr>
          <p:cNvPr id="2" name="02">
            <a:extLst xmlns:a="http://schemas.openxmlformats.org/drawingml/2006/main">
              <a:ext uri="{FF2B5EF4-FFF2-40B4-BE49-F238E27FC236}">
                <a16:creationId xmlns:a16="http://schemas.microsoft.com/office/drawing/2014/main" id="{56680D05-F1E5-404E-872F-51C8EAEDBD31}"/>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02</a:t>
            </a:r>
          </a:p>
        </p:txBody>
      </p:sp>
      <p:sp>
        <p:nvSpPr>
          <p:cNvPr id="3" name="Which sales strategy should&#10;the agent choose ">
            <a:extLst xmlns:a="http://schemas.openxmlformats.org/drawingml/2006/main">
              <a:ext uri="{FF2B5EF4-FFF2-40B4-BE49-F238E27FC236}">
                <a16:creationId xmlns:a16="http://schemas.microsoft.com/office/drawing/2014/main" id="{CAC4CE4D-07BA-4D43-84DF-88B7DA64ED4B}"/>
              </a:ext>
            </a:extLst>
          </p:cNvPr>
          <p:cNvSpPr>
            <a:spLocks xmlns:a="http://schemas.openxmlformats.org/drawingml/2006/main" noGrp="1"/>
          </p:cNvSpPr>
          <p:nvPr/>
        </p:nvSpPr>
        <p:spPr>
          <a:xfrm xmlns:a="http://schemas.openxmlformats.org/drawingml/2006/main">
            <a:off x="609600" y="15621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Which sales strategy should</a:t>
            </a:r>
          </a:p>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the agent choose next?</a:t>
            </a:r>
          </a:p>
        </p:txBody>
      </p:sp>
      <p:sp>
        <p:nvSpPr>
          <p:cNvPr id="4" name="Buyer intent and emotion change across turns.">
            <a:extLst xmlns:a="http://schemas.openxmlformats.org/drawingml/2006/main">
              <a:ext uri="{FF2B5EF4-FFF2-40B4-BE49-F238E27FC236}">
                <a16:creationId xmlns:a16="http://schemas.microsoft.com/office/drawing/2014/main" id="{55156A8B-C4B9-4676-B25C-E28975933A6C}"/>
              </a:ext>
            </a:extLst>
          </p:cNvPr>
          <p:cNvSpPr>
            <a:spLocks xmlns:a="http://schemas.openxmlformats.org/drawingml/2006/main" noGrp="1"/>
          </p:cNvSpPr>
          <p:nvPr/>
        </p:nvSpPr>
        <p:spPr>
          <a:xfrm xmlns:a="http://schemas.openxmlformats.org/drawingml/2006/main">
            <a:off x="609600" y="3076575"/>
            <a:ext cx="5391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Buyer intent and emotion change across turns.</a:t>
            </a:r>
          </a:p>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Needs, objections and existing coverage affect</a:t>
            </a:r>
          </a:p>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which response is appropriate.</a:t>
            </a:r>
          </a:p>
        </p:txBody>
      </p:sp>
      <p:sp>
        <p:nvSpPr>
          <p:cNvPr id="5" name="Research question">
            <a:extLst xmlns:a="http://schemas.openxmlformats.org/drawingml/2006/main">
              <a:ext uri="{FF2B5EF4-FFF2-40B4-BE49-F238E27FC236}">
                <a16:creationId xmlns:a16="http://schemas.microsoft.com/office/drawing/2014/main" id="{5414A92D-C7DC-4DFD-8765-6AC79B8021A4}"/>
              </a:ext>
            </a:extLst>
          </p:cNvPr>
          <p:cNvSpPr>
            <a:spLocks xmlns:a="http://schemas.openxmlformats.org/drawingml/2006/main" noGrp="1"/>
          </p:cNvSpPr>
          <p:nvPr/>
        </p:nvSpPr>
        <p:spPr>
          <a:xfrm xmlns:a="http://schemas.openxmlformats.org/drawingml/2006/main">
            <a:off x="609600" y="4829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724"/>
                </a:solidFill>
                <a:latin typeface="Arial"/>
                <a:ea typeface="Arial"/>
                <a:cs typeface="Arial"/>
              </a:defRPr>
            </a:pPr>
            <a:r>
              <a:rPr sz="1875" b="1">
                <a:solidFill>
                  <a:srgbClr val="182724"/>
                </a:solidFill>
                <a:latin typeface="Arial"/>
                <a:ea typeface="Arial"/>
                <a:cs typeface="Arial"/>
              </a:rPr>
              <a:t>Research question</a:t>
            </a:r>
          </a:p>
        </p:txBody>
      </p:sp>
      <p:sp>
        <p:nvSpPr>
          <p:cNvPr id="6" name="Can PPO improve strategy selection while&#10;main">
            <a:extLst xmlns:a="http://schemas.openxmlformats.org/drawingml/2006/main">
              <a:ext uri="{FF2B5EF4-FFF2-40B4-BE49-F238E27FC236}">
                <a16:creationId xmlns:a16="http://schemas.microsoft.com/office/drawing/2014/main" id="{12F46E31-654A-4C35-9AC9-C5E76F273EBF}"/>
              </a:ext>
            </a:extLst>
          </p:cNvPr>
          <p:cNvSpPr>
            <a:spLocks xmlns:a="http://schemas.openxmlformats.org/drawingml/2006/main" noGrp="1"/>
          </p:cNvSpPr>
          <p:nvPr/>
        </p:nvSpPr>
        <p:spPr>
          <a:xfrm xmlns:a="http://schemas.openxmlformats.org/drawingml/2006/main">
            <a:off x="609600" y="528637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Can PPO improve strategy selection while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maintaining suitability and low-pressure behavior?</a:t>
            </a:r>
          </a:p>
        </p:txBody>
      </p:sp>
      <p:sp>
        <p:nvSpPr>
          <p:cNvPr id="7" name="Adaptive action selection">
            <a:extLst xmlns:a="http://schemas.openxmlformats.org/drawingml/2006/main">
              <a:ext uri="{FF2B5EF4-FFF2-40B4-BE49-F238E27FC236}">
                <a16:creationId xmlns:a16="http://schemas.microsoft.com/office/drawing/2014/main" id="{853AC7B9-C8AC-4087-8C98-7A0328CAFADE}"/>
              </a:ext>
            </a:extLst>
          </p:cNvPr>
          <p:cNvSpPr>
            <a:spLocks xmlns:a="http://schemas.openxmlformats.org/drawingml/2006/main" noGrp="1"/>
          </p:cNvSpPr>
          <p:nvPr/>
        </p:nvSpPr>
        <p:spPr>
          <a:xfrm xmlns:a="http://schemas.openxmlformats.org/drawingml/2006/main">
            <a:off x="6610350" y="15335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Adaptive action selection</a:t>
            </a:r>
          </a:p>
        </p:txBody>
      </p:sp>
      <p:sp>
        <p:nvSpPr>
          <p:cNvPr id="8" name="Use structured customer state rather than&#10;a f">
            <a:extLst xmlns:a="http://schemas.openxmlformats.org/drawingml/2006/main">
              <a:ext uri="{FF2B5EF4-FFF2-40B4-BE49-F238E27FC236}">
                <a16:creationId xmlns:a16="http://schemas.microsoft.com/office/drawing/2014/main" id="{DA5B7E9A-E4F6-4696-AF5D-67A6B41C536F}"/>
              </a:ext>
            </a:extLst>
          </p:cNvPr>
          <p:cNvSpPr>
            <a:spLocks xmlns:a="http://schemas.openxmlformats.org/drawingml/2006/main" noGrp="1"/>
          </p:cNvSpPr>
          <p:nvPr/>
        </p:nvSpPr>
        <p:spPr>
          <a:xfrm xmlns:a="http://schemas.openxmlformats.org/drawingml/2006/main">
            <a:off x="6610350" y="20193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Use structured customer state rather than</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a fixed conversation sequence.</a:t>
            </a:r>
          </a:p>
        </p:txBody>
      </p:sp>
      <p:sp>
        <p:nvSpPr>
          <p:cNvPr id="9" name="">
            <a:extLst xmlns:a="http://schemas.openxmlformats.org/drawingml/2006/main">
              <a:ext uri="{FF2B5EF4-FFF2-40B4-BE49-F238E27FC236}">
                <a16:creationId xmlns:a16="http://schemas.microsoft.com/office/drawing/2014/main" id="{DF921123-76B7-4347-8FBD-49195B826704}"/>
              </a:ext>
            </a:extLst>
          </p:cNvPr>
          <p:cNvSpPr>
            <a:spLocks xmlns:a="http://schemas.openxmlformats.org/drawingml/2006/main" noGrp="1"/>
          </p:cNvSpPr>
          <p:nvPr/>
        </p:nvSpPr>
        <p:spPr>
          <a:xfrm xmlns:a="http://schemas.openxmlformats.org/drawingml/2006/main">
            <a:off x="6610350" y="300990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0" name="Controlled product information">
            <a:extLst xmlns:a="http://schemas.openxmlformats.org/drawingml/2006/main">
              <a:ext uri="{FF2B5EF4-FFF2-40B4-BE49-F238E27FC236}">
                <a16:creationId xmlns:a16="http://schemas.microsoft.com/office/drawing/2014/main" id="{6246375B-E34E-4BA0-AAC4-8FA9B05430DA}"/>
              </a:ext>
            </a:extLst>
          </p:cNvPr>
          <p:cNvSpPr>
            <a:spLocks xmlns:a="http://schemas.openxmlformats.org/drawingml/2006/main" noGrp="1"/>
          </p:cNvSpPr>
          <p:nvPr/>
        </p:nvSpPr>
        <p:spPr>
          <a:xfrm xmlns:a="http://schemas.openxmlformats.org/drawingml/2006/main">
            <a:off x="6610350" y="3267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Controlled product information</a:t>
            </a:r>
          </a:p>
        </p:txBody>
      </p:sp>
      <p:sp>
        <p:nvSpPr>
          <p:cNvPr id="11" name="Filter product facts before the response&#10;gene">
            <a:extLst xmlns:a="http://schemas.openxmlformats.org/drawingml/2006/main">
              <a:ext uri="{FF2B5EF4-FFF2-40B4-BE49-F238E27FC236}">
                <a16:creationId xmlns:a16="http://schemas.microsoft.com/office/drawing/2014/main" id="{2F96EAE2-2084-4E8F-8E0D-0E9637BA07D9}"/>
              </a:ext>
            </a:extLst>
          </p:cNvPr>
          <p:cNvSpPr>
            <a:spLocks xmlns:a="http://schemas.openxmlformats.org/drawingml/2006/main" noGrp="1"/>
          </p:cNvSpPr>
          <p:nvPr/>
        </p:nvSpPr>
        <p:spPr>
          <a:xfrm xmlns:a="http://schemas.openxmlformats.org/drawingml/2006/main">
            <a:off x="6610350" y="37528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Filter product facts before the response</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generator receives them.</a:t>
            </a:r>
          </a:p>
        </p:txBody>
      </p:sp>
      <p:sp>
        <p:nvSpPr>
          <p:cNvPr id="12" name="">
            <a:extLst xmlns:a="http://schemas.openxmlformats.org/drawingml/2006/main">
              <a:ext uri="{FF2B5EF4-FFF2-40B4-BE49-F238E27FC236}">
                <a16:creationId xmlns:a16="http://schemas.microsoft.com/office/drawing/2014/main" id="{3969B41D-2173-40B7-AA3F-94F88ED74DBD}"/>
              </a:ext>
            </a:extLst>
          </p:cNvPr>
          <p:cNvSpPr>
            <a:spLocks xmlns:a="http://schemas.openxmlformats.org/drawingml/2006/main" noGrp="1"/>
          </p:cNvSpPr>
          <p:nvPr/>
        </p:nvSpPr>
        <p:spPr>
          <a:xfrm xmlns:a="http://schemas.openxmlformats.org/drawingml/2006/main">
            <a:off x="6610350" y="474345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3" name="Reproducible evaluation">
            <a:extLst xmlns:a="http://schemas.openxmlformats.org/drawingml/2006/main">
              <a:ext uri="{FF2B5EF4-FFF2-40B4-BE49-F238E27FC236}">
                <a16:creationId xmlns:a16="http://schemas.microsoft.com/office/drawing/2014/main" id="{25AECD6C-2643-4B78-B5AD-41EE4112B5D8}"/>
              </a:ext>
            </a:extLst>
          </p:cNvPr>
          <p:cNvSpPr>
            <a:spLocks xmlns:a="http://schemas.openxmlformats.org/drawingml/2006/main" noGrp="1"/>
          </p:cNvSpPr>
          <p:nvPr/>
        </p:nvSpPr>
        <p:spPr>
          <a:xfrm xmlns:a="http://schemas.openxmlformats.org/drawingml/2006/main">
            <a:off x="6610350" y="5000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Reproducible evaluation</a:t>
            </a:r>
          </a:p>
        </p:txBody>
      </p:sp>
      <p:sp>
        <p:nvSpPr>
          <p:cNvPr id="14" name="Compare random, rule, supervised and PPO&#10;poli">
            <a:extLst xmlns:a="http://schemas.openxmlformats.org/drawingml/2006/main">
              <a:ext uri="{FF2B5EF4-FFF2-40B4-BE49-F238E27FC236}">
                <a16:creationId xmlns:a16="http://schemas.microsoft.com/office/drawing/2014/main" id="{D9FBE3A8-F286-4E50-98A1-5AD431DC6529}"/>
              </a:ext>
            </a:extLst>
          </p:cNvPr>
          <p:cNvSpPr>
            <a:spLocks xmlns:a="http://schemas.openxmlformats.org/drawingml/2006/main" noGrp="1"/>
          </p:cNvSpPr>
          <p:nvPr/>
        </p:nvSpPr>
        <p:spPr>
          <a:xfrm xmlns:a="http://schemas.openxmlformats.org/drawingml/2006/main">
            <a:off x="6610350" y="54864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Compare random, rule, supervised and PPO</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policies in the same simulator.</a:t>
            </a:r>
          </a:p>
        </p:txBody>
      </p:sp>
    </p:spTree>
    <p:extLst>
      <p:ext uri="{BB962C8B-B14F-4D97-AF65-F5344CB8AC3E}">
        <p14:creationId xmlns:p14="http://schemas.microsoft.com/office/powerpoint/2010/main" val="1849422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B91985B3-B834-4635-ADE5-F25355E8C61C}"/>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AC164508-EE70-4A58-A59E-1F3ED93FED0A}"/>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03</a:t>
            </a:r>
          </a:p>
        </p:txBody>
      </p:sp>
      <p:graphicFrame>
        <p:nvGraphicFramePr>
          <p:cNvPr id="7" name=""/>
          <p:cNvGraphicFramePr/>
          <p:nvPr/>
        </p:nvGraphicFramePr>
        <p:xfrm>
          <a:off xmlns:a="http://schemas.openxmlformats.org/drawingml/2006/main" x="609600" y="1323975"/>
          <a:ext xmlns:a="http://schemas.openxmlformats.org/drawingml/2006/main" cx="10972800" cy="4552950"/>
        </p:xfrm>
        <a:graphic xmlns:a="http://schemas.openxmlformats.org/drawingml/2006/main">
          <a:graphicData uri="http://schemas.openxmlformats.org/drawingml/2006/table">
            <a:tbl>
              <a:tblPr/>
              <a:tblGrid>
                <a:gridCol w="2571750"/>
                <a:gridCol w="4210050"/>
                <a:gridCol w="4191000"/>
              </a:tblGrid>
              <a:tr h="457200">
                <a:tc>
                  <a:txBody>
                    <a:bodyPr>
                      <a:noAutofit/>
                    </a:bodyPr>
                    <a:lstStyle/>
                    <a:p>
                      <a:pPr algn="l"/>
                      <a:r>
                        <a:rPr sz="1725" b="1">
                          <a:solidFill>
                            <a:srgbClr val="FFFFFF"/>
                          </a:solidFill>
                          <a:latin typeface="Arial"/>
                          <a:ea typeface="Arial"/>
                          <a:cs typeface="Arial"/>
                        </a:rPr>
                        <a:t>Study</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Verified contribution</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Connection to this project</a:t>
                      </a:r>
                    </a:p>
                  </a:txBody>
                  <a:tcPr marL="152400" marR="133350" marT="95250" marB="95250" anchor="ctr">
                    <a:solidFill>
                      <a:srgbClr val="126D55"/>
                    </a:solidFill>
                  </a:tcPr>
                </a:tc>
              </a:tr>
              <a:tr h="819150">
                <a:tc>
                  <a:txBody>
                    <a:bodyPr>
                      <a:noAutofit/>
                    </a:bodyPr>
                    <a:lstStyle/>
                    <a:p>
                      <a:pPr algn="l"/>
                      <a:r>
                        <a:rPr sz="1725" b="0">
                          <a:solidFill>
                            <a:srgbClr val="182724"/>
                          </a:solidFill>
                          <a:latin typeface="Arial"/>
                          <a:ea typeface="Arial"/>
                          <a:cs typeface="Arial"/>
                        </a:rPr>
                        <a:t>Bagga et al.</a:t>
                      </a:r>
                    </a:p>
                    <a:p>
                      <a:pPr algn="l"/>
                      <a:r>
                        <a:rPr sz="1725" b="0">
                          <a:solidFill>
                            <a:srgbClr val="182724"/>
                          </a:solidFill>
                          <a:latin typeface="Arial"/>
                          <a:ea typeface="Arial"/>
                          <a:cs typeface="Arial"/>
                        </a:rPr>
                        <a:t>IJCAI 2020 [1]</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Actor-critic RL with supervised</a:t>
                      </a:r>
                    </a:p>
                    <a:p>
                      <a:pPr algn="l"/>
                      <a:r>
                        <a:rPr sz="1725" b="0">
                          <a:solidFill>
                            <a:srgbClr val="182724"/>
                          </a:solidFill>
                          <a:latin typeface="Arial"/>
                          <a:ea typeface="Arial"/>
                          <a:cs typeface="Arial"/>
                        </a:rPr>
                        <a:t>pre-training for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Supervised initialization before</a:t>
                      </a:r>
                    </a:p>
                    <a:p>
                      <a:pPr algn="l"/>
                      <a:r>
                        <a:rPr sz="1725" b="0">
                          <a:solidFill>
                            <a:srgbClr val="182724"/>
                          </a:solidFill>
                          <a:latin typeface="Arial"/>
                          <a:ea typeface="Arial"/>
                          <a:cs typeface="Arial"/>
                        </a:rPr>
                        <a:t>PPO training.</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Sengupta et al.</a:t>
                      </a:r>
                    </a:p>
                    <a:p>
                      <a:pPr algn="l"/>
                      <a:r>
                        <a:rPr sz="1725" b="0">
                          <a:solidFill>
                            <a:srgbClr val="182724"/>
                          </a:solidFill>
                          <a:latin typeface="Arial"/>
                          <a:ea typeface="Arial"/>
                          <a:cs typeface="Arial"/>
                        </a:rPr>
                        <a:t>AAMAS 2021 [2]</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Opponent classification and</a:t>
                      </a:r>
                    </a:p>
                    <a:p>
                      <a:pPr algn="l"/>
                      <a:r>
                        <a:rPr sz="1725" b="0">
                          <a:solidFill>
                            <a:srgbClr val="182724"/>
                          </a:solidFill>
                          <a:latin typeface="Arial"/>
                          <a:ea typeface="Arial"/>
                          <a:cs typeface="Arial"/>
                        </a:rPr>
                        <a:t>adaptive strategy switching.</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Customer profile, emotion and</a:t>
                      </a:r>
                    </a:p>
                    <a:p>
                      <a:pPr algn="l"/>
                      <a:r>
                        <a:rPr sz="1725" b="0">
                          <a:solidFill>
                            <a:srgbClr val="182724"/>
                          </a:solidFill>
                          <a:latin typeface="Arial"/>
                          <a:ea typeface="Arial"/>
                          <a:cs typeface="Arial"/>
                        </a:rPr>
                        <a:t>objection features guide actions.</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Renting et al.</a:t>
                      </a:r>
                    </a:p>
                    <a:p>
                      <a:pPr algn="l"/>
                      <a:r>
                        <a:rPr sz="1725" b="0">
                          <a:solidFill>
                            <a:srgbClr val="182724"/>
                          </a:solidFill>
                          <a:latin typeface="Arial"/>
                          <a:ea typeface="Arial"/>
                          <a:cs typeface="Arial"/>
                        </a:rPr>
                        <a:t>RLC 2024 [3]</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Graph-based RL policy for transfer</a:t>
                      </a:r>
                    </a:p>
                    <a:p>
                      <a:pPr algn="l"/>
                      <a:r>
                        <a:rPr sz="1725" b="0">
                          <a:solidFill>
                            <a:srgbClr val="182724"/>
                          </a:solidFill>
                          <a:latin typeface="Arial"/>
                          <a:ea typeface="Arial"/>
                          <a:cs typeface="Arial"/>
                        </a:rPr>
                        <a:t>across negotiation problems.</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Highlights the limits of our</a:t>
                      </a:r>
                    </a:p>
                    <a:p>
                      <a:pPr algn="l"/>
                      <a:r>
                        <a:rPr sz="1725" b="0">
                          <a:solidFill>
                            <a:srgbClr val="182724"/>
                          </a:solidFill>
                          <a:latin typeface="Arial"/>
                          <a:ea typeface="Arial"/>
                          <a:cs typeface="Arial"/>
                        </a:rPr>
                        <a:t>fixed-size linear policy.</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Karande et al.</a:t>
                      </a:r>
                    </a:p>
                    <a:p>
                      <a:pPr algn="l"/>
                      <a:r>
                        <a:rPr sz="1725" b="0">
                          <a:solidFill>
                            <a:srgbClr val="182724"/>
                          </a:solidFill>
                          <a:latin typeface="Arial"/>
                          <a:ea typeface="Arial"/>
                          <a:cs typeface="Arial"/>
                        </a:rPr>
                        <a:t>ICON 2024 [4]</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LLM persuasion with auxiliary</a:t>
                      </a:r>
                    </a:p>
                    <a:p>
                      <a:pPr algn="l"/>
                      <a:r>
                        <a:rPr sz="1725" b="0">
                          <a:solidFill>
                            <a:srgbClr val="182724"/>
                          </a:solidFill>
                          <a:latin typeface="Arial"/>
                          <a:ea typeface="Arial"/>
                          <a:cs typeface="Arial"/>
                        </a:rPr>
                        <a:t>retrieval and fact validation.</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Supports separating strategy</a:t>
                      </a:r>
                    </a:p>
                    <a:p>
                      <a:pPr algn="l"/>
                      <a:r>
                        <a:rPr sz="1725" b="0">
                          <a:solidFill>
                            <a:srgbClr val="182724"/>
                          </a:solidFill>
                          <a:latin typeface="Arial"/>
                          <a:ea typeface="Arial"/>
                          <a:cs typeface="Arial"/>
                        </a:rPr>
                        <a:t>selection from response wording.</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Liu et al.</a:t>
                      </a:r>
                    </a:p>
                    <a:p>
                      <a:pPr algn="l"/>
                      <a:r>
                        <a:rPr sz="1725" b="0">
                          <a:solidFill>
                            <a:srgbClr val="182724"/>
                          </a:solidFill>
                          <a:latin typeface="Arial"/>
                          <a:ea typeface="Arial"/>
                          <a:cs typeface="Arial"/>
                        </a:rPr>
                        <a:t>Preprint 2026 [5]</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AgenticPay benchmarks language-</a:t>
                      </a:r>
                    </a:p>
                    <a:p>
                      <a:pPr algn="l"/>
                      <a:r>
                        <a:rPr sz="1725" b="0">
                          <a:solidFill>
                            <a:srgbClr val="182724"/>
                          </a:solidFill>
                          <a:latin typeface="Arial"/>
                          <a:ea typeface="Arial"/>
                          <a:cs typeface="Arial"/>
                        </a:rPr>
                        <a:t>based buyer-seller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Motivates a direct-LLM baseline</a:t>
                      </a:r>
                    </a:p>
                    <a:p>
                      <a:pPr algn="l"/>
                      <a:r>
                        <a:rPr sz="1725" b="0">
                          <a:solidFill>
                            <a:srgbClr val="182724"/>
                          </a:solidFill>
                          <a:latin typeface="Arial"/>
                          <a:ea typeface="Arial"/>
                          <a:cs typeface="Arial"/>
                        </a:rPr>
                        <a:t>and multi-turn evaluation.</a:t>
                      </a:r>
                    </a:p>
                  </a:txBody>
                  <a:tcPr marL="152400" marR="133350" marT="95250" marB="95250" anchor="ctr">
                    <a:solidFill>
                      <a:srgbClr val="FFFFFF"/>
                    </a:solidFill>
                  </a:tcPr>
                </a:tc>
              </a:tr>
            </a:tbl>
          </a:graphicData>
        </a:graphic>
      </p:graphicFrame>
      <p:sp>
        <p:nvSpPr>
          <p:cNvPr id="4" name="Project focus: constrained sales dialogue act">
            <a:extLst xmlns:a="http://schemas.openxmlformats.org/drawingml/2006/main">
              <a:ext uri="{FF2B5EF4-FFF2-40B4-BE49-F238E27FC236}">
                <a16:creationId xmlns:a16="http://schemas.microsoft.com/office/drawing/2014/main" id="{43D36FCF-4920-4BB3-86FA-723E81038184}"/>
              </a:ext>
            </a:extLst>
          </p:cNvPr>
          <p:cNvSpPr>
            <a:spLocks xmlns:a="http://schemas.openxmlformats.org/drawingml/2006/main" noGrp="1"/>
          </p:cNvSpPr>
          <p:nvPr/>
        </p:nvSpPr>
        <p:spPr>
          <a:xfrm xmlns:a="http://schemas.openxmlformats.org/drawingml/2006/main">
            <a:off x="609600" y="6134100"/>
            <a:ext cx="1053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Project focus: constrained sales dialogue actions. Claim-settlement examples remain analogies.</a:t>
            </a:r>
          </a:p>
        </p:txBody>
      </p:sp>
    </p:spTree>
    <p:extLst>
      <p:ext uri="{BB962C8B-B14F-4D97-AF65-F5344CB8AC3E}">
        <p14:creationId xmlns:p14="http://schemas.microsoft.com/office/powerpoint/2010/main" val="1706405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lemented Approach">
            <a:extLst xmlns:a="http://schemas.openxmlformats.org/drawingml/2006/main">
              <a:ext uri="{FF2B5EF4-FFF2-40B4-BE49-F238E27FC236}">
                <a16:creationId xmlns:a16="http://schemas.microsoft.com/office/drawing/2014/main" id="{1F9F58DB-4FD9-422A-B244-554879DA5FBD}"/>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Implemented Approach</a:t>
            </a:r>
          </a:p>
        </p:txBody>
      </p:sp>
      <p:sp>
        <p:nvSpPr>
          <p:cNvPr id="2" name="04">
            <a:extLst xmlns:a="http://schemas.openxmlformats.org/drawingml/2006/main">
              <a:ext uri="{FF2B5EF4-FFF2-40B4-BE49-F238E27FC236}">
                <a16:creationId xmlns:a16="http://schemas.microsoft.com/office/drawing/2014/main" id="{59A16614-9C13-49AC-A049-99D37070140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04</a:t>
            </a:r>
          </a:p>
        </p:txBody>
      </p:sp>
      <p:graphicFrame>
        <p:nvGraphicFramePr>
          <p:cNvPr id="10" name=""/>
          <p:cNvGraphicFramePr/>
          <p:nvPr/>
        </p:nvGraphicFramePr>
        <p:xfrm>
          <a:off xmlns:a="http://schemas.openxmlformats.org/drawingml/2006/main" x="609600" y="1447800"/>
          <a:ext xmlns:a="http://schemas.openxmlformats.org/drawingml/2006/main" cx="10972800" cy="3438525"/>
        </p:xfrm>
        <a:graphic xmlns:a="http://schemas.openxmlformats.org/drawingml/2006/main">
          <a:graphicData uri="http://schemas.openxmlformats.org/drawingml/2006/table">
            <a:tbl>
              <a:tblPr/>
              <a:tblGrid>
                <a:gridCol w="2705100"/>
                <a:gridCol w="3962400"/>
                <a:gridCol w="4305300"/>
              </a:tblGrid>
              <a:tr h="495300">
                <a:tc>
                  <a:txBody>
                    <a:bodyPr>
                      <a:noAutofit/>
                    </a:bodyPr>
                    <a:lstStyle/>
                    <a:p>
                      <a:pPr algn="l"/>
                      <a:r>
                        <a:rPr sz="1875" b="1">
                          <a:solidFill>
                            <a:srgbClr val="FFFFFF"/>
                          </a:solidFill>
                          <a:latin typeface="Arial"/>
                          <a:ea typeface="Arial"/>
                          <a:cs typeface="Arial"/>
                        </a:rPr>
                        <a:t>Component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Responsibility</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Current implementation</a:t>
                      </a:r>
                    </a:p>
                  </a:txBody>
                  <a:tcPr marL="152400" marR="133350" marT="95250" marB="95250" anchor="ctr">
                    <a:solidFill>
                      <a:srgbClr val="126D55"/>
                    </a:solidFill>
                  </a:tcPr>
                </a:tc>
              </a:tr>
              <a:tr h="981075">
                <a:tc>
                  <a:txBody>
                    <a:bodyPr>
                      <a:noAutofit/>
                    </a:bodyPr>
                    <a:lstStyle/>
                    <a:p>
                      <a:pPr algn="l"/>
                      <a:r>
                        <a:rPr sz="1875" b="0">
                          <a:solidFill>
                            <a:srgbClr val="182724"/>
                          </a:solidFill>
                          <a:latin typeface="Arial"/>
                          <a:ea typeface="Arial"/>
                          <a:cs typeface="Arial"/>
                        </a:rPr>
                        <a:t>PPO policy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Choose the next dialogue action.</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Masked linear actor-critic in NumPy.</a:t>
                      </a:r>
                    </a:p>
                    <a:p>
                      <a:pPr algn="l"/>
                      <a:r>
                        <a:rPr sz="1875" b="0">
                          <a:solidFill>
                            <a:srgbClr val="182724"/>
                          </a:solidFill>
                          <a:latin typeface="Arial"/>
                          <a:ea typeface="Arial"/>
                          <a:cs typeface="Arial"/>
                        </a:rPr>
                        <a:t>16 controlled actions.</a:t>
                      </a:r>
                    </a:p>
                  </a:txBody>
                  <a:tcPr marL="152400" marR="133350" marT="95250" marB="95250" anchor="ctr">
                    <a:solidFill>
                      <a:srgbClr val="FFFFFF"/>
                    </a:solidFill>
                  </a:tcPr>
                </a:tc>
              </a:tr>
              <a:tr h="981075">
                <a:tc>
                  <a:txBody>
                    <a:bodyPr>
                      <a:noAutofit/>
                    </a:bodyPr>
                    <a:lstStyle/>
                    <a:p>
                      <a:pPr algn="l"/>
                      <a:r>
                        <a:rPr sz="1875" b="0">
                          <a:solidFill>
                            <a:srgbClr val="182724"/>
                          </a:solidFill>
                          <a:latin typeface="Arial"/>
                          <a:ea typeface="Arial"/>
                          <a:cs typeface="Arial"/>
                        </a:rPr>
                        <a:t>Product / rule engine</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Control eligible product facts.</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Need, age and budget filters.</a:t>
                      </a:r>
                    </a:p>
                    <a:p>
                      <a:pPr algn="l"/>
                      <a:r>
                        <a:rPr sz="1875" b="0">
                          <a:solidFill>
                            <a:srgbClr val="182724"/>
                          </a:solidFill>
                          <a:latin typeface="Arial"/>
                          <a:ea typeface="Arial"/>
                          <a:cs typeface="Arial"/>
                        </a:rPr>
                        <a:t>8 synthetic product records.</a:t>
                      </a:r>
                    </a:p>
                  </a:txBody>
                  <a:tcPr marL="152400" marR="133350" marT="95250" marB="95250" anchor="ctr">
                    <a:solidFill>
                      <a:srgbClr val="F3F5F4"/>
                    </a:solidFill>
                  </a:tcPr>
                </a:tc>
              </a:tr>
              <a:tr h="981075">
                <a:tc>
                  <a:txBody>
                    <a:bodyPr>
                      <a:noAutofit/>
                    </a:bodyPr>
                    <a:lstStyle/>
                    <a:p>
                      <a:pPr algn="l"/>
                      <a:r>
                        <a:rPr sz="1875" b="0">
                          <a:solidFill>
                            <a:srgbClr val="182724"/>
                          </a:solidFill>
                          <a:latin typeface="Arial"/>
                          <a:ea typeface="Arial"/>
                          <a:cs typeface="Arial"/>
                        </a:rPr>
                        <a:t>Response generator</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Express the assigned strategy.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Local Ollama Llama 3.2 3B.</a:t>
                      </a:r>
                    </a:p>
                    <a:p>
                      <a:pPr algn="l"/>
                      <a:r>
                        <a:rPr sz="1875" b="0">
                          <a:solidFill>
                            <a:srgbClr val="182724"/>
                          </a:solidFill>
                          <a:latin typeface="Arial"/>
                          <a:ea typeface="Arial"/>
                          <a:cs typeface="Arial"/>
                        </a:rPr>
                        <a:t>Verified templates as fallback.</a:t>
                      </a:r>
                    </a:p>
                  </a:txBody>
                  <a:tcPr marL="152400" marR="133350" marT="95250" marB="95250" anchor="ctr">
                    <a:solidFill>
                      <a:srgbClr val="FFFFFF"/>
                    </a:solidFill>
                  </a:tcPr>
                </a:tc>
              </a:tr>
            </a:tbl>
          </a:graphicData>
        </a:graphic>
      </p:graphicFrame>
      <p:sp>
        <p:nvSpPr>
          <p:cNvPr id="4" name="Live action constraints">
            <a:extLst xmlns:a="http://schemas.openxmlformats.org/drawingml/2006/main">
              <a:ext uri="{FF2B5EF4-FFF2-40B4-BE49-F238E27FC236}">
                <a16:creationId xmlns:a16="http://schemas.microsoft.com/office/drawing/2014/main" id="{42570A28-DCE3-4E25-92E2-B9E47F2ADB3A}"/>
              </a:ext>
            </a:extLst>
          </p:cNvPr>
          <p:cNvSpPr>
            <a:spLocks xmlns:a="http://schemas.openxmlformats.org/drawingml/2006/main" noGrp="1"/>
          </p:cNvSpPr>
          <p:nvPr/>
        </p:nvSpPr>
        <p:spPr>
          <a:xfrm xmlns:a="http://schemas.openxmlformats.org/drawingml/2006/main">
            <a:off x="609600" y="52387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Live action constraints</a:t>
            </a:r>
          </a:p>
        </p:txBody>
      </p:sp>
      <p:sp>
        <p:nvSpPr>
          <p:cNvPr id="5" name="Clarify ambiguous amounts and payment questio">
            <a:extLst xmlns:a="http://schemas.openxmlformats.org/drawingml/2006/main">
              <a:ext uri="{FF2B5EF4-FFF2-40B4-BE49-F238E27FC236}">
                <a16:creationId xmlns:a16="http://schemas.microsoft.com/office/drawing/2014/main" id="{D406F30D-26AB-404E-88E0-D1FDC40F851C}"/>
              </a:ext>
            </a:extLst>
          </p:cNvPr>
          <p:cNvSpPr>
            <a:spLocks xmlns:a="http://schemas.openxmlformats.org/drawingml/2006/main" noGrp="1"/>
          </p:cNvSpPr>
          <p:nvPr/>
        </p:nvSpPr>
        <p:spPr>
          <a:xfrm xmlns:a="http://schemas.openxmlformats.org/drawingml/2006/main">
            <a:off x="609600" y="56673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Clarify ambiguous amounts and payment questions.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Record any change to the policy proposal.</a:t>
            </a:r>
          </a:p>
        </p:txBody>
      </p:sp>
      <p:sp>
        <p:nvSpPr>
          <p:cNvPr id="6" name="Response checks">
            <a:extLst xmlns:a="http://schemas.openxmlformats.org/drawingml/2006/main">
              <a:ext uri="{FF2B5EF4-FFF2-40B4-BE49-F238E27FC236}">
                <a16:creationId xmlns:a16="http://schemas.microsoft.com/office/drawing/2014/main" id="{4B4B35A8-D22F-483D-BD26-A5D470251579}"/>
              </a:ext>
            </a:extLst>
          </p:cNvPr>
          <p:cNvSpPr>
            <a:spLocks xmlns:a="http://schemas.openxmlformats.org/drawingml/2006/main" noGrp="1"/>
          </p:cNvSpPr>
          <p:nvPr/>
        </p:nvSpPr>
        <p:spPr>
          <a:xfrm xmlns:a="http://schemas.openxmlformats.org/drawingml/2006/main">
            <a:off x="6419850" y="52387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Response checks</a:t>
            </a:r>
          </a:p>
        </p:txBody>
      </p:sp>
      <p:sp>
        <p:nvSpPr>
          <p:cNvPr id="7" name="Check numeric claims, role and repetition.&#10;Ex">
            <a:extLst xmlns:a="http://schemas.openxmlformats.org/drawingml/2006/main">
              <a:ext uri="{FF2B5EF4-FFF2-40B4-BE49-F238E27FC236}">
                <a16:creationId xmlns:a16="http://schemas.microsoft.com/office/drawing/2014/main" id="{2353B317-0028-4BD6-BC21-176F7676FB0E}"/>
              </a:ext>
            </a:extLst>
          </p:cNvPr>
          <p:cNvSpPr>
            <a:spLocks xmlns:a="http://schemas.openxmlformats.org/drawingml/2006/main" noGrp="1"/>
          </p:cNvSpPr>
          <p:nvPr/>
        </p:nvSpPr>
        <p:spPr>
          <a:xfrm xmlns:a="http://schemas.openxmlformats.org/drawingml/2006/main">
            <a:off x="6419850" y="5667375"/>
            <a:ext cx="5086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Check numeric claims, role and repetition.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Exact premiums require a verified insurer quote.</a:t>
            </a:r>
          </a:p>
        </p:txBody>
      </p:sp>
    </p:spTree>
    <p:extLst>
      <p:ext uri="{BB962C8B-B14F-4D97-AF65-F5344CB8AC3E}">
        <p14:creationId xmlns:p14="http://schemas.microsoft.com/office/powerpoint/2010/main" val="272516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ataset and Customer Understanding">
            <a:extLst xmlns:a="http://schemas.openxmlformats.org/drawingml/2006/main">
              <a:ext uri="{FF2B5EF4-FFF2-40B4-BE49-F238E27FC236}">
                <a16:creationId xmlns:a16="http://schemas.microsoft.com/office/drawing/2014/main" id="{C0F9B173-0068-49B2-AE2F-47BB7B0CABD3}"/>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Dataset and Customer Understanding</a:t>
            </a:r>
          </a:p>
        </p:txBody>
      </p:sp>
      <p:sp>
        <p:nvSpPr>
          <p:cNvPr id="2" name="05">
            <a:extLst xmlns:a="http://schemas.openxmlformats.org/drawingml/2006/main">
              <a:ext uri="{FF2B5EF4-FFF2-40B4-BE49-F238E27FC236}">
                <a16:creationId xmlns:a16="http://schemas.microsoft.com/office/drawing/2014/main" id="{4B56DF85-CF9B-44E5-8165-3D1F09C163BB}"/>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05</a:t>
            </a:r>
          </a:p>
        </p:txBody>
      </p:sp>
      <p:sp>
        <p:nvSpPr>
          <p:cNvPr id="3" name="1,200">
            <a:extLst xmlns:a="http://schemas.openxmlformats.org/drawingml/2006/main">
              <a:ext uri="{FF2B5EF4-FFF2-40B4-BE49-F238E27FC236}">
                <a16:creationId xmlns:a16="http://schemas.microsoft.com/office/drawing/2014/main" id="{5472464C-2488-41D9-9327-023378659424}"/>
              </a:ext>
            </a:extLst>
          </p:cNvPr>
          <p:cNvSpPr>
            <a:spLocks xmlns:a="http://schemas.openxmlformats.org/drawingml/2006/main" noGrp="1"/>
          </p:cNvSpPr>
          <p:nvPr/>
        </p:nvSpPr>
        <p:spPr>
          <a:xfrm xmlns:a="http://schemas.openxmlformats.org/drawingml/2006/main">
            <a:off x="60960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1,200</a:t>
            </a:r>
          </a:p>
        </p:txBody>
      </p:sp>
      <p:sp>
        <p:nvSpPr>
          <p:cNvPr id="4" name="Synthetic conversations">
            <a:extLst xmlns:a="http://schemas.openxmlformats.org/drawingml/2006/main">
              <a:ext uri="{FF2B5EF4-FFF2-40B4-BE49-F238E27FC236}">
                <a16:creationId xmlns:a16="http://schemas.microsoft.com/office/drawing/2014/main" id="{3820D624-C015-44CE-9FF4-DF09934ADB63}"/>
              </a:ext>
            </a:extLst>
          </p:cNvPr>
          <p:cNvSpPr>
            <a:spLocks xmlns:a="http://schemas.openxmlformats.org/drawingml/2006/main" noGrp="1"/>
          </p:cNvSpPr>
          <p:nvPr/>
        </p:nvSpPr>
        <p:spPr>
          <a:xfrm xmlns:a="http://schemas.openxmlformats.org/drawingml/2006/main">
            <a:off x="60960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conversations</a:t>
            </a:r>
          </a:p>
        </p:txBody>
      </p:sp>
      <p:sp>
        <p:nvSpPr>
          <p:cNvPr id="5" name="20,396">
            <a:extLst xmlns:a="http://schemas.openxmlformats.org/drawingml/2006/main">
              <a:ext uri="{FF2B5EF4-FFF2-40B4-BE49-F238E27FC236}">
                <a16:creationId xmlns:a16="http://schemas.microsoft.com/office/drawing/2014/main" id="{03E361D9-5BA1-48CA-B9EB-D0CF7970AC8C}"/>
              </a:ext>
            </a:extLst>
          </p:cNvPr>
          <p:cNvSpPr>
            <a:spLocks xmlns:a="http://schemas.openxmlformats.org/drawingml/2006/main" noGrp="1"/>
          </p:cNvSpPr>
          <p:nvPr/>
        </p:nvSpPr>
        <p:spPr>
          <a:xfrm xmlns:a="http://schemas.openxmlformats.org/drawingml/2006/main">
            <a:off x="436245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20,396</a:t>
            </a:r>
          </a:p>
        </p:txBody>
      </p:sp>
      <p:sp>
        <p:nvSpPr>
          <p:cNvPr id="6" name="Dialogue turns">
            <a:extLst xmlns:a="http://schemas.openxmlformats.org/drawingml/2006/main">
              <a:ext uri="{FF2B5EF4-FFF2-40B4-BE49-F238E27FC236}">
                <a16:creationId xmlns:a16="http://schemas.microsoft.com/office/drawing/2014/main" id="{C9C8F722-36BD-45B1-B760-369B4B9B58C5}"/>
              </a:ext>
            </a:extLst>
          </p:cNvPr>
          <p:cNvSpPr>
            <a:spLocks xmlns:a="http://schemas.openxmlformats.org/drawingml/2006/main" noGrp="1"/>
          </p:cNvSpPr>
          <p:nvPr/>
        </p:nvSpPr>
        <p:spPr>
          <a:xfrm xmlns:a="http://schemas.openxmlformats.org/drawingml/2006/main">
            <a:off x="436245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Dialogue turns</a:t>
            </a:r>
          </a:p>
        </p:txBody>
      </p:sp>
      <p:sp>
        <p:nvSpPr>
          <p:cNvPr id="7" name="3,000">
            <a:extLst xmlns:a="http://schemas.openxmlformats.org/drawingml/2006/main">
              <a:ext uri="{FF2B5EF4-FFF2-40B4-BE49-F238E27FC236}">
                <a16:creationId xmlns:a16="http://schemas.microsoft.com/office/drawing/2014/main" id="{E942A77F-CDB8-448F-887F-A678699889EF}"/>
              </a:ext>
            </a:extLst>
          </p:cNvPr>
          <p:cNvSpPr>
            <a:spLocks xmlns:a="http://schemas.openxmlformats.org/drawingml/2006/main" noGrp="1"/>
          </p:cNvSpPr>
          <p:nvPr/>
        </p:nvSpPr>
        <p:spPr>
          <a:xfrm xmlns:a="http://schemas.openxmlformats.org/drawingml/2006/main">
            <a:off x="8181975" y="14097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3,000</a:t>
            </a:r>
          </a:p>
        </p:txBody>
      </p:sp>
      <p:sp>
        <p:nvSpPr>
          <p:cNvPr id="8" name="Synthetic profiles">
            <a:extLst xmlns:a="http://schemas.openxmlformats.org/drawingml/2006/main">
              <a:ext uri="{FF2B5EF4-FFF2-40B4-BE49-F238E27FC236}">
                <a16:creationId xmlns:a16="http://schemas.microsoft.com/office/drawing/2014/main" id="{AC9E7463-12CA-4219-B461-3F1BAA4F4295}"/>
              </a:ext>
            </a:extLst>
          </p:cNvPr>
          <p:cNvSpPr>
            <a:spLocks xmlns:a="http://schemas.openxmlformats.org/drawingml/2006/main" noGrp="1"/>
          </p:cNvSpPr>
          <p:nvPr/>
        </p:nvSpPr>
        <p:spPr>
          <a:xfrm xmlns:a="http://schemas.openxmlformats.org/drawingml/2006/main">
            <a:off x="8181975" y="2200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profiles</a:t>
            </a:r>
          </a:p>
        </p:txBody>
      </p:sp>
      <p:graphicFrame>
        <p:nvGraphicFramePr>
          <p:cNvPr id="23" name=""/>
          <p:cNvGraphicFramePr/>
          <p:nvPr/>
        </p:nvGraphicFramePr>
        <p:xfrm>
          <a:off xmlns:a="http://schemas.openxmlformats.org/drawingml/2006/main" x="609600" y="2886075"/>
          <a:ext xmlns:a="http://schemas.openxmlformats.org/drawingml/2006/main" cx="10972800" cy="990600"/>
        </p:xfrm>
        <a:graphic xmlns:a="http://schemas.openxmlformats.org/drawingml/2006/main">
          <a:graphicData uri="http://schemas.openxmlformats.org/drawingml/2006/table">
            <a:tbl>
              <a:tblPr/>
              <a:tblGrid>
                <a:gridCol w="3238500"/>
                <a:gridCol w="2581275"/>
                <a:gridCol w="2581275"/>
                <a:gridCol w="2571750"/>
              </a:tblGrid>
              <a:tr h="457200">
                <a:tc>
                  <a:txBody>
                    <a:bodyPr>
                      <a:noAutofit/>
                    </a:bodyPr>
                    <a:lstStyle/>
                    <a:p>
                      <a:pPr algn="l"/>
                      <a:r>
                        <a:rPr sz="1875" b="1">
                          <a:solidFill>
                            <a:srgbClr val="FFFFFF"/>
                          </a:solidFill>
                          <a:latin typeface="Arial"/>
                          <a:ea typeface="Arial"/>
                          <a:cs typeface="Arial"/>
                        </a:rPr>
                        <a:t>Split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Train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Validation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Test</a:t>
                      </a:r>
                    </a:p>
                  </a:txBody>
                  <a:tcPr marL="152400" marR="133350" marT="95250" marB="95250" anchor="ctr">
                    <a:solidFill>
                      <a:srgbClr val="126D55"/>
                    </a:solidFill>
                  </a:tcPr>
                </a:tc>
              </a:tr>
              <a:tr h="533400">
                <a:tc>
                  <a:txBody>
                    <a:bodyPr>
                      <a:noAutofit/>
                    </a:bodyPr>
                    <a:lstStyle/>
                    <a:p>
                      <a:pPr algn="l"/>
                      <a:r>
                        <a:rPr sz="1875" b="0">
                          <a:solidFill>
                            <a:srgbClr val="182724"/>
                          </a:solidFill>
                          <a:latin typeface="Arial"/>
                          <a:ea typeface="Arial"/>
                          <a:cs typeface="Arial"/>
                        </a:rPr>
                        <a:t>Conversations</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812</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164</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224</a:t>
                      </a:r>
                    </a:p>
                  </a:txBody>
                  <a:tcPr marL="152400" marR="133350" marT="95250" marB="95250" anchor="ctr">
                    <a:solidFill>
                      <a:srgbClr val="FFFFFF"/>
                    </a:solidFill>
                  </a:tcPr>
                </a:tc>
              </a:tr>
            </a:tbl>
          </a:graphicData>
        </a:graphic>
      </p:graphicFrame>
      <p:sp>
        <p:nvSpPr>
          <p:cNvPr id="10" name="NLP and entities">
            <a:extLst xmlns:a="http://schemas.openxmlformats.org/drawingml/2006/main">
              <a:ext uri="{FF2B5EF4-FFF2-40B4-BE49-F238E27FC236}">
                <a16:creationId xmlns:a16="http://schemas.microsoft.com/office/drawing/2014/main" id="{68B56B45-F1EC-48B7-BDF1-FBB45145D1BB}"/>
              </a:ext>
            </a:extLst>
          </p:cNvPr>
          <p:cNvSpPr>
            <a:spLocks xmlns:a="http://schemas.openxmlformats.org/drawingml/2006/main" noGrp="1"/>
          </p:cNvSpPr>
          <p:nvPr/>
        </p:nvSpPr>
        <p:spPr>
          <a:xfrm xmlns:a="http://schemas.openxmlformats.org/drawingml/2006/main">
            <a:off x="609600" y="4333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NLP and entities</a:t>
            </a:r>
          </a:p>
        </p:txBody>
      </p:sp>
      <p:sp>
        <p:nvSpPr>
          <p:cNvPr id="11" name="Naive Bayes: intent, emotion, objection, stag">
            <a:extLst xmlns:a="http://schemas.openxmlformats.org/drawingml/2006/main">
              <a:ext uri="{FF2B5EF4-FFF2-40B4-BE49-F238E27FC236}">
                <a16:creationId xmlns:a16="http://schemas.microsoft.com/office/drawing/2014/main" id="{C5051979-3DD0-42CF-AEB1-3FA7653945F3}"/>
              </a:ext>
            </a:extLst>
          </p:cNvPr>
          <p:cNvSpPr>
            <a:spLocks xmlns:a="http://schemas.openxmlformats.org/drawingml/2006/main" noGrp="1"/>
          </p:cNvSpPr>
          <p:nvPr/>
        </p:nvSpPr>
        <p:spPr>
          <a:xfrm xmlns:a="http://schemas.openxmlformats.org/drawingml/2006/main">
            <a:off x="609600" y="482917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Naive Bayes: intent, emotion, objection,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Rules: needs, budget, coverage and stop cues.</a:t>
            </a:r>
          </a:p>
        </p:txBody>
      </p:sp>
      <p:sp>
        <p:nvSpPr>
          <p:cNvPr id="12" name="Current evidence gap">
            <a:extLst xmlns:a="http://schemas.openxmlformats.org/drawingml/2006/main">
              <a:ext uri="{FF2B5EF4-FFF2-40B4-BE49-F238E27FC236}">
                <a16:creationId xmlns:a16="http://schemas.microsoft.com/office/drawing/2014/main" id="{6C22CCAE-B022-4AE5-A384-EEA3A9757F7C}"/>
              </a:ext>
            </a:extLst>
          </p:cNvPr>
          <p:cNvSpPr>
            <a:spLocks xmlns:a="http://schemas.openxmlformats.org/drawingml/2006/main" noGrp="1"/>
          </p:cNvSpPr>
          <p:nvPr/>
        </p:nvSpPr>
        <p:spPr>
          <a:xfrm xmlns:a="http://schemas.openxmlformats.org/drawingml/2006/main">
            <a:off x="6419850" y="433387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evidence gap</a:t>
            </a:r>
          </a:p>
        </p:txBody>
      </p:sp>
      <p:sp>
        <p:nvSpPr>
          <p:cNvPr id="13" name="Emotion accuracy: 53.7%. Stage: 37.0%.&#10;Both m">
            <a:extLst xmlns:a="http://schemas.openxmlformats.org/drawingml/2006/main">
              <a:ext uri="{FF2B5EF4-FFF2-40B4-BE49-F238E27FC236}">
                <a16:creationId xmlns:a16="http://schemas.microsoft.com/office/drawing/2014/main" id="{567D5FD4-907F-41FA-99E0-F2C1F2233706}"/>
              </a:ext>
            </a:extLst>
          </p:cNvPr>
          <p:cNvSpPr>
            <a:spLocks xmlns:a="http://schemas.openxmlformats.org/drawingml/2006/main" noGrp="1"/>
          </p:cNvSpPr>
          <p:nvPr/>
        </p:nvSpPr>
        <p:spPr>
          <a:xfrm xmlns:a="http://schemas.openxmlformats.org/drawingml/2006/main">
            <a:off x="6419850" y="4829175"/>
            <a:ext cx="5086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Emotion accuracy: 53.7%. Stage: 37.0%.</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Both measure a held-out synthetic test set.</a:t>
            </a:r>
          </a:p>
        </p:txBody>
      </p:sp>
      <p:sp>
        <p:nvSpPr>
          <p:cNvPr id="14" name="Split by scenario and transcript group to red">
            <a:extLst xmlns:a="http://schemas.openxmlformats.org/drawingml/2006/main">
              <a:ext uri="{FF2B5EF4-FFF2-40B4-BE49-F238E27FC236}">
                <a16:creationId xmlns:a16="http://schemas.microsoft.com/office/drawing/2014/main" id="{EF7B79C9-312E-4621-8A30-E1B3EBF548C6}"/>
              </a:ext>
            </a:extLst>
          </p:cNvPr>
          <p:cNvSpPr>
            <a:spLocks xmlns:a="http://schemas.openxmlformats.org/drawingml/2006/main" noGrp="1"/>
          </p:cNvSpPr>
          <p:nvPr/>
        </p:nvSpPr>
        <p:spPr>
          <a:xfrm xmlns:a="http://schemas.openxmlformats.org/drawingml/2006/main">
            <a:off x="609600" y="6000750"/>
            <a:ext cx="1053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Split by scenario and transcript group to reduce leakage. Human-customer generalization remains untested.</a:t>
            </a:r>
          </a:p>
        </p:txBody>
      </p:sp>
    </p:spTree>
    <p:extLst>
      <p:ext uri="{BB962C8B-B14F-4D97-AF65-F5344CB8AC3E}">
        <p14:creationId xmlns:p14="http://schemas.microsoft.com/office/powerpoint/2010/main" val="11389265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ystem Pipeline">
            <a:extLst xmlns:a="http://schemas.openxmlformats.org/drawingml/2006/main">
              <a:ext uri="{FF2B5EF4-FFF2-40B4-BE49-F238E27FC236}">
                <a16:creationId xmlns:a16="http://schemas.microsoft.com/office/drawing/2014/main" id="{EB161747-4752-4000-98C7-6C6DD48700B4}"/>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System Pipeline</a:t>
            </a:r>
          </a:p>
        </p:txBody>
      </p:sp>
      <p:sp>
        <p:nvSpPr>
          <p:cNvPr id="2" name="06">
            <a:extLst xmlns:a="http://schemas.openxmlformats.org/drawingml/2006/main">
              <a:ext uri="{FF2B5EF4-FFF2-40B4-BE49-F238E27FC236}">
                <a16:creationId xmlns:a16="http://schemas.microsoft.com/office/drawing/2014/main" id="{8585FFE3-B1D3-4537-8FC3-A0FC91A6116C}"/>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06</a:t>
            </a:r>
          </a:p>
        </p:txBody>
      </p:sp>
      <p:sp>
        <p:nvSpPr>
          <p:cNvPr id="3" name="Live conversation">
            <a:extLst xmlns:a="http://schemas.openxmlformats.org/drawingml/2006/main">
              <a:ext uri="{FF2B5EF4-FFF2-40B4-BE49-F238E27FC236}">
                <a16:creationId xmlns:a16="http://schemas.microsoft.com/office/drawing/2014/main" id="{6F3F6549-114F-4FA8-AE2E-D2B936FE8F3B}"/>
              </a:ext>
            </a:extLst>
          </p:cNvPr>
          <p:cNvSpPr>
            <a:spLocks xmlns:a="http://schemas.openxmlformats.org/drawingml/2006/main" noGrp="1"/>
          </p:cNvSpPr>
          <p:nvPr/>
        </p:nvSpPr>
        <p:spPr>
          <a:xfrm xmlns:a="http://schemas.openxmlformats.org/drawingml/2006/main">
            <a:off x="609600" y="1304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Live conversation</a:t>
            </a:r>
          </a:p>
        </p:txBody>
      </p:sp>
      <p:sp>
        <p:nvSpPr>
          <p:cNvPr id="4" name="Buyer text">
            <a:extLst xmlns:a="http://schemas.openxmlformats.org/drawingml/2006/main">
              <a:ext uri="{FF2B5EF4-FFF2-40B4-BE49-F238E27FC236}">
                <a16:creationId xmlns:a16="http://schemas.microsoft.com/office/drawing/2014/main" id="{3FDB06F0-00E8-4B49-8479-B5DBCB9F1B6A}"/>
              </a:ext>
            </a:extLst>
          </p:cNvPr>
          <p:cNvSpPr>
            <a:spLocks xmlns:a="http://schemas.openxmlformats.org/drawingml/2006/main" noGrp="1"/>
          </p:cNvSpPr>
          <p:nvPr/>
        </p:nvSpPr>
        <p:spPr>
          <a:xfrm xmlns:a="http://schemas.openxmlformats.org/drawingml/2006/main">
            <a:off x="6096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5" name="Buyer text">
            <a:extLst xmlns:a="http://schemas.openxmlformats.org/drawingml/2006/main">
              <a:ext uri="{FF2B5EF4-FFF2-40B4-BE49-F238E27FC236}">
                <a16:creationId xmlns:a16="http://schemas.microsoft.com/office/drawing/2014/main" id="{4D9B099F-081F-4D82-AFE2-1449BBD410A4}"/>
              </a:ext>
            </a:extLst>
          </p:cNvPr>
          <p:cNvSpPr>
            <a:spLocks xmlns:a="http://schemas.openxmlformats.org/drawingml/2006/main" noGrp="1"/>
          </p:cNvSpPr>
          <p:nvPr/>
        </p:nvSpPr>
        <p:spPr>
          <a:xfrm xmlns:a="http://schemas.openxmlformats.org/drawingml/2006/main">
            <a:off x="7620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Buyer text</a:t>
            </a:r>
          </a:p>
        </p:txBody>
      </p:sp>
      <p:sp>
        <p:nvSpPr>
          <p:cNvPr id="6" name="Utterance and&#10;recent context">
            <a:extLst xmlns:a="http://schemas.openxmlformats.org/drawingml/2006/main">
              <a:ext uri="{FF2B5EF4-FFF2-40B4-BE49-F238E27FC236}">
                <a16:creationId xmlns:a16="http://schemas.microsoft.com/office/drawing/2014/main" id="{37FFE43C-4044-45E4-9F33-49C5C6165858}"/>
              </a:ext>
            </a:extLst>
          </p:cNvPr>
          <p:cNvSpPr>
            <a:spLocks xmlns:a="http://schemas.openxmlformats.org/drawingml/2006/main" noGrp="1"/>
          </p:cNvSpPr>
          <p:nvPr/>
        </p:nvSpPr>
        <p:spPr>
          <a:xfrm xmlns:a="http://schemas.openxmlformats.org/drawingml/2006/main">
            <a:off x="7620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Utterance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recent context</a:t>
            </a:r>
          </a:p>
        </p:txBody>
      </p:sp>
      <p:sp>
        <p:nvSpPr>
          <p:cNvPr id="7" name="Understand">
            <a:extLst xmlns:a="http://schemas.openxmlformats.org/drawingml/2006/main">
              <a:ext uri="{FF2B5EF4-FFF2-40B4-BE49-F238E27FC236}">
                <a16:creationId xmlns:a16="http://schemas.microsoft.com/office/drawing/2014/main" id="{80992E36-6177-4BF9-8AF0-2919DF125002}"/>
              </a:ext>
            </a:extLst>
          </p:cNvPr>
          <p:cNvSpPr>
            <a:spLocks xmlns:a="http://schemas.openxmlformats.org/drawingml/2006/main" noGrp="1"/>
          </p:cNvSpPr>
          <p:nvPr/>
        </p:nvSpPr>
        <p:spPr>
          <a:xfrm xmlns:a="http://schemas.openxmlformats.org/drawingml/2006/main">
            <a:off x="24574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8" name="Understand">
            <a:extLst xmlns:a="http://schemas.openxmlformats.org/drawingml/2006/main">
              <a:ext uri="{FF2B5EF4-FFF2-40B4-BE49-F238E27FC236}">
                <a16:creationId xmlns:a16="http://schemas.microsoft.com/office/drawing/2014/main" id="{3ED5ED2D-A56D-43CA-9002-39F8B1CDECF8}"/>
              </a:ext>
            </a:extLst>
          </p:cNvPr>
          <p:cNvSpPr>
            <a:spLocks xmlns:a="http://schemas.openxmlformats.org/drawingml/2006/main" noGrp="1"/>
          </p:cNvSpPr>
          <p:nvPr/>
        </p:nvSpPr>
        <p:spPr>
          <a:xfrm xmlns:a="http://schemas.openxmlformats.org/drawingml/2006/main">
            <a:off x="26098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Understand</a:t>
            </a:r>
          </a:p>
        </p:txBody>
      </p:sp>
      <p:sp>
        <p:nvSpPr>
          <p:cNvPr id="9" name="Intent, emotion&#10;and entities">
            <a:extLst xmlns:a="http://schemas.openxmlformats.org/drawingml/2006/main">
              <a:ext uri="{FF2B5EF4-FFF2-40B4-BE49-F238E27FC236}">
                <a16:creationId xmlns:a16="http://schemas.microsoft.com/office/drawing/2014/main" id="{8A567D0D-6D64-4D30-80FB-532AADBE3E0B}"/>
              </a:ext>
            </a:extLst>
          </p:cNvPr>
          <p:cNvSpPr>
            <a:spLocks xmlns:a="http://schemas.openxmlformats.org/drawingml/2006/main" noGrp="1"/>
          </p:cNvSpPr>
          <p:nvPr/>
        </p:nvSpPr>
        <p:spPr>
          <a:xfrm xmlns:a="http://schemas.openxmlformats.org/drawingml/2006/main">
            <a:off x="26098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Intent, emotion</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and entities</a:t>
            </a:r>
          </a:p>
        </p:txBody>
      </p:sp>
      <p:sp>
        <p:nvSpPr>
          <p:cNvPr id="10" name="State">
            <a:extLst xmlns:a="http://schemas.openxmlformats.org/drawingml/2006/main">
              <a:ext uri="{FF2B5EF4-FFF2-40B4-BE49-F238E27FC236}">
                <a16:creationId xmlns:a16="http://schemas.microsoft.com/office/drawing/2014/main" id="{1541A459-8C57-439A-A45E-2DDF9F730356}"/>
              </a:ext>
            </a:extLst>
          </p:cNvPr>
          <p:cNvSpPr>
            <a:spLocks xmlns:a="http://schemas.openxmlformats.org/drawingml/2006/main" noGrp="1"/>
          </p:cNvSpPr>
          <p:nvPr/>
        </p:nvSpPr>
        <p:spPr>
          <a:xfrm xmlns:a="http://schemas.openxmlformats.org/drawingml/2006/main">
            <a:off x="43053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1" name="State">
            <a:extLst xmlns:a="http://schemas.openxmlformats.org/drawingml/2006/main">
              <a:ext uri="{FF2B5EF4-FFF2-40B4-BE49-F238E27FC236}">
                <a16:creationId xmlns:a16="http://schemas.microsoft.com/office/drawing/2014/main" id="{01446FCB-FC9A-4CE1-B8B5-CB1195BA0F48}"/>
              </a:ext>
            </a:extLst>
          </p:cNvPr>
          <p:cNvSpPr>
            <a:spLocks xmlns:a="http://schemas.openxmlformats.org/drawingml/2006/main" noGrp="1"/>
          </p:cNvSpPr>
          <p:nvPr/>
        </p:nvSpPr>
        <p:spPr>
          <a:xfrm xmlns:a="http://schemas.openxmlformats.org/drawingml/2006/main">
            <a:off x="44577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State</a:t>
            </a:r>
          </a:p>
        </p:txBody>
      </p:sp>
      <p:sp>
        <p:nvSpPr>
          <p:cNvPr id="12" name="94 normalized&#10;features">
            <a:extLst xmlns:a="http://schemas.openxmlformats.org/drawingml/2006/main">
              <a:ext uri="{FF2B5EF4-FFF2-40B4-BE49-F238E27FC236}">
                <a16:creationId xmlns:a16="http://schemas.microsoft.com/office/drawing/2014/main" id="{335E2BF7-84D1-4ECC-B439-D77A4A3D4804}"/>
              </a:ext>
            </a:extLst>
          </p:cNvPr>
          <p:cNvSpPr>
            <a:spLocks xmlns:a="http://schemas.openxmlformats.org/drawingml/2006/main" noGrp="1"/>
          </p:cNvSpPr>
          <p:nvPr/>
        </p:nvSpPr>
        <p:spPr>
          <a:xfrm xmlns:a="http://schemas.openxmlformats.org/drawingml/2006/main">
            <a:off x="44577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94 normalized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features</a:t>
            </a:r>
          </a:p>
        </p:txBody>
      </p:sp>
      <p:sp>
        <p:nvSpPr>
          <p:cNvPr id="13" name="Action">
            <a:extLst xmlns:a="http://schemas.openxmlformats.org/drawingml/2006/main">
              <a:ext uri="{FF2B5EF4-FFF2-40B4-BE49-F238E27FC236}">
                <a16:creationId xmlns:a16="http://schemas.microsoft.com/office/drawing/2014/main" id="{D73E9E5A-AD24-490E-8193-7902EEC3DDA1}"/>
              </a:ext>
            </a:extLst>
          </p:cNvPr>
          <p:cNvSpPr>
            <a:spLocks xmlns:a="http://schemas.openxmlformats.org/drawingml/2006/main" noGrp="1"/>
          </p:cNvSpPr>
          <p:nvPr/>
        </p:nvSpPr>
        <p:spPr>
          <a:xfrm xmlns:a="http://schemas.openxmlformats.org/drawingml/2006/main">
            <a:off x="6153150" y="1809750"/>
            <a:ext cx="1638300" cy="1524000"/>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14" name="Action">
            <a:extLst xmlns:a="http://schemas.openxmlformats.org/drawingml/2006/main">
              <a:ext uri="{FF2B5EF4-FFF2-40B4-BE49-F238E27FC236}">
                <a16:creationId xmlns:a16="http://schemas.microsoft.com/office/drawing/2014/main" id="{097C1795-A2AB-48A9-BC44-4BABE435F53A}"/>
              </a:ext>
            </a:extLst>
          </p:cNvPr>
          <p:cNvSpPr>
            <a:spLocks xmlns:a="http://schemas.openxmlformats.org/drawingml/2006/main" noGrp="1"/>
          </p:cNvSpPr>
          <p:nvPr/>
        </p:nvSpPr>
        <p:spPr>
          <a:xfrm xmlns:a="http://schemas.openxmlformats.org/drawingml/2006/main">
            <a:off x="63055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Action</a:t>
            </a:r>
          </a:p>
        </p:txBody>
      </p:sp>
      <p:sp>
        <p:nvSpPr>
          <p:cNvPr id="15" name="PPO mask +&#10;live constraints">
            <a:extLst xmlns:a="http://schemas.openxmlformats.org/drawingml/2006/main">
              <a:ext uri="{FF2B5EF4-FFF2-40B4-BE49-F238E27FC236}">
                <a16:creationId xmlns:a16="http://schemas.microsoft.com/office/drawing/2014/main" id="{CA82AC41-18F5-4D18-AB8C-D880E9793F96}"/>
              </a:ext>
            </a:extLst>
          </p:cNvPr>
          <p:cNvSpPr>
            <a:spLocks xmlns:a="http://schemas.openxmlformats.org/drawingml/2006/main" noGrp="1"/>
          </p:cNvSpPr>
          <p:nvPr/>
        </p:nvSpPr>
        <p:spPr>
          <a:xfrm xmlns:a="http://schemas.openxmlformats.org/drawingml/2006/main">
            <a:off x="63055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PPO mask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live constraints</a:t>
            </a:r>
          </a:p>
        </p:txBody>
      </p:sp>
      <p:sp>
        <p:nvSpPr>
          <p:cNvPr id="16" name="Facts">
            <a:extLst xmlns:a="http://schemas.openxmlformats.org/drawingml/2006/main">
              <a:ext uri="{FF2B5EF4-FFF2-40B4-BE49-F238E27FC236}">
                <a16:creationId xmlns:a16="http://schemas.microsoft.com/office/drawing/2014/main" id="{63229243-D21B-485F-A215-AB712CB6D53F}"/>
              </a:ext>
            </a:extLst>
          </p:cNvPr>
          <p:cNvSpPr>
            <a:spLocks xmlns:a="http://schemas.openxmlformats.org/drawingml/2006/main" noGrp="1"/>
          </p:cNvSpPr>
          <p:nvPr/>
        </p:nvSpPr>
        <p:spPr>
          <a:xfrm xmlns:a="http://schemas.openxmlformats.org/drawingml/2006/main">
            <a:off x="80010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7" name="Facts">
            <a:extLst xmlns:a="http://schemas.openxmlformats.org/drawingml/2006/main">
              <a:ext uri="{FF2B5EF4-FFF2-40B4-BE49-F238E27FC236}">
                <a16:creationId xmlns:a16="http://schemas.microsoft.com/office/drawing/2014/main" id="{C7B63F92-35AE-4222-AAFD-C415F4E980ED}"/>
              </a:ext>
            </a:extLst>
          </p:cNvPr>
          <p:cNvSpPr>
            <a:spLocks xmlns:a="http://schemas.openxmlformats.org/drawingml/2006/main" noGrp="1"/>
          </p:cNvSpPr>
          <p:nvPr/>
        </p:nvSpPr>
        <p:spPr>
          <a:xfrm xmlns:a="http://schemas.openxmlformats.org/drawingml/2006/main">
            <a:off x="81534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Facts</a:t>
            </a:r>
          </a:p>
        </p:txBody>
      </p:sp>
      <p:sp>
        <p:nvSpPr>
          <p:cNvPr id="18" name="Eligible product&#10;information">
            <a:extLst xmlns:a="http://schemas.openxmlformats.org/drawingml/2006/main">
              <a:ext uri="{FF2B5EF4-FFF2-40B4-BE49-F238E27FC236}">
                <a16:creationId xmlns:a16="http://schemas.microsoft.com/office/drawing/2014/main" id="{74054E47-90EF-4365-8DC7-93DD0509AE89}"/>
              </a:ext>
            </a:extLst>
          </p:cNvPr>
          <p:cNvSpPr>
            <a:spLocks xmlns:a="http://schemas.openxmlformats.org/drawingml/2006/main" noGrp="1"/>
          </p:cNvSpPr>
          <p:nvPr/>
        </p:nvSpPr>
        <p:spPr>
          <a:xfrm xmlns:a="http://schemas.openxmlformats.org/drawingml/2006/main">
            <a:off x="81534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Eligible product</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information</a:t>
            </a:r>
          </a:p>
        </p:txBody>
      </p:sp>
      <p:sp>
        <p:nvSpPr>
          <p:cNvPr id="19" name="Response">
            <a:extLst xmlns:a="http://schemas.openxmlformats.org/drawingml/2006/main">
              <a:ext uri="{FF2B5EF4-FFF2-40B4-BE49-F238E27FC236}">
                <a16:creationId xmlns:a16="http://schemas.microsoft.com/office/drawing/2014/main" id="{B9390ED0-8852-49FB-93F1-E5E8C7CBEF7A}"/>
              </a:ext>
            </a:extLst>
          </p:cNvPr>
          <p:cNvSpPr>
            <a:spLocks xmlns:a="http://schemas.openxmlformats.org/drawingml/2006/main" noGrp="1"/>
          </p:cNvSpPr>
          <p:nvPr/>
        </p:nvSpPr>
        <p:spPr>
          <a:xfrm xmlns:a="http://schemas.openxmlformats.org/drawingml/2006/main">
            <a:off x="98488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20" name="Response">
            <a:extLst xmlns:a="http://schemas.openxmlformats.org/drawingml/2006/main">
              <a:ext uri="{FF2B5EF4-FFF2-40B4-BE49-F238E27FC236}">
                <a16:creationId xmlns:a16="http://schemas.microsoft.com/office/drawing/2014/main" id="{ECB7A3E6-8351-4BB0-84BD-CBD1BF8C7207}"/>
              </a:ext>
            </a:extLst>
          </p:cNvPr>
          <p:cNvSpPr>
            <a:spLocks xmlns:a="http://schemas.openxmlformats.org/drawingml/2006/main" noGrp="1"/>
          </p:cNvSpPr>
          <p:nvPr/>
        </p:nvSpPr>
        <p:spPr>
          <a:xfrm xmlns:a="http://schemas.openxmlformats.org/drawingml/2006/main">
            <a:off x="100012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Response</a:t>
            </a:r>
          </a:p>
        </p:txBody>
      </p:sp>
      <p:sp>
        <p:nvSpPr>
          <p:cNvPr id="21" name="LLM or template&#10;with checks">
            <a:extLst xmlns:a="http://schemas.openxmlformats.org/drawingml/2006/main">
              <a:ext uri="{FF2B5EF4-FFF2-40B4-BE49-F238E27FC236}">
                <a16:creationId xmlns:a16="http://schemas.microsoft.com/office/drawing/2014/main" id="{75D6E1E3-C839-45C6-9393-7EE787D24ECA}"/>
              </a:ext>
            </a:extLst>
          </p:cNvPr>
          <p:cNvSpPr>
            <a:spLocks xmlns:a="http://schemas.openxmlformats.org/drawingml/2006/main" noGrp="1"/>
          </p:cNvSpPr>
          <p:nvPr/>
        </p:nvSpPr>
        <p:spPr>
          <a:xfrm xmlns:a="http://schemas.openxmlformats.org/drawingml/2006/main">
            <a:off x="100012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LLM or template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with checks</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2479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409575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59436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9" name=""/>
          <p:cNvCxnSpPr>
            <a:stCxn xmlns:a="http://schemas.openxmlformats.org/drawingml/2006/main" id="13" idx="3"/>
            <a:endCxn xmlns:a="http://schemas.openxmlformats.org/drawingml/2006/main" id="16" idx="1"/>
          </p:cNvCxnSpPr>
          <p:nvPr/>
        </p:nvCxnSpPr>
        <p:spPr>
          <a:xfrm xmlns:a="http://schemas.openxmlformats.org/drawingml/2006/main">
            <a:off x="779145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70" name=""/>
          <p:cNvCxnSpPr>
            <a:stCxn xmlns:a="http://schemas.openxmlformats.org/drawingml/2006/main" id="16" idx="3"/>
            <a:endCxn xmlns:a="http://schemas.openxmlformats.org/drawingml/2006/main" id="19" idx="1"/>
          </p:cNvCxnSpPr>
          <p:nvPr/>
        </p:nvCxnSpPr>
        <p:spPr>
          <a:xfrm xmlns:a="http://schemas.openxmlformats.org/drawingml/2006/main">
            <a:off x="96393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sp>
        <p:nvSpPr>
          <p:cNvPr id="27" name="Conversation memory carries the response and ">
            <a:extLst xmlns:a="http://schemas.openxmlformats.org/drawingml/2006/main">
              <a:ext uri="{FF2B5EF4-FFF2-40B4-BE49-F238E27FC236}">
                <a16:creationId xmlns:a16="http://schemas.microsoft.com/office/drawing/2014/main" id="{5029919B-9BB5-4E3E-AD17-553C7216105F}"/>
              </a:ext>
            </a:extLst>
          </p:cNvPr>
          <p:cNvSpPr>
            <a:spLocks xmlns:a="http://schemas.openxmlformats.org/drawingml/2006/main" noGrp="1"/>
          </p:cNvSpPr>
          <p:nvPr/>
        </p:nvSpPr>
        <p:spPr>
          <a:xfrm xmlns:a="http://schemas.openxmlformats.org/drawingml/2006/main">
            <a:off x="609600" y="3486150"/>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Conversation memory carries the response and buyer context into the next turn.</a:t>
            </a:r>
          </a:p>
        </p:txBody>
      </p:sp>
      <p:sp>
        <p:nvSpPr>
          <p:cNvPr id="28" name="Offline learning">
            <a:extLst xmlns:a="http://schemas.openxmlformats.org/drawingml/2006/main">
              <a:ext uri="{FF2B5EF4-FFF2-40B4-BE49-F238E27FC236}">
                <a16:creationId xmlns:a16="http://schemas.microsoft.com/office/drawing/2014/main" id="{BC6448C9-C88E-49C8-A360-010224C8FAF3}"/>
              </a:ext>
            </a:extLst>
          </p:cNvPr>
          <p:cNvSpPr>
            <a:spLocks xmlns:a="http://schemas.openxmlformats.org/drawingml/2006/main" noGrp="1"/>
          </p:cNvSpPr>
          <p:nvPr/>
        </p:nvSpPr>
        <p:spPr>
          <a:xfrm xmlns:a="http://schemas.openxmlformats.org/drawingml/2006/main">
            <a:off x="609600" y="4114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Offline learning</a:t>
            </a:r>
          </a:p>
        </p:txBody>
      </p:sp>
      <p:sp>
        <p:nvSpPr>
          <p:cNvPr id="29" name="PPO policy">
            <a:extLst xmlns:a="http://schemas.openxmlformats.org/drawingml/2006/main">
              <a:ext uri="{FF2B5EF4-FFF2-40B4-BE49-F238E27FC236}">
                <a16:creationId xmlns:a16="http://schemas.microsoft.com/office/drawing/2014/main" id="{3CC2C9E1-ACEB-41E4-8200-65C89B759C54}"/>
              </a:ext>
            </a:extLst>
          </p:cNvPr>
          <p:cNvSpPr>
            <a:spLocks xmlns:a="http://schemas.openxmlformats.org/drawingml/2006/main" noGrp="1"/>
          </p:cNvSpPr>
          <p:nvPr/>
        </p:nvSpPr>
        <p:spPr>
          <a:xfrm xmlns:a="http://schemas.openxmlformats.org/drawingml/2006/main">
            <a:off x="609600" y="4638675"/>
            <a:ext cx="247650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0" name="PPO policy">
            <a:extLst xmlns:a="http://schemas.openxmlformats.org/drawingml/2006/main">
              <a:ext uri="{FF2B5EF4-FFF2-40B4-BE49-F238E27FC236}">
                <a16:creationId xmlns:a16="http://schemas.microsoft.com/office/drawing/2014/main" id="{AF30D49D-2722-4DC1-A6A5-98C9D362E99B}"/>
              </a:ext>
            </a:extLst>
          </p:cNvPr>
          <p:cNvSpPr>
            <a:spLocks xmlns:a="http://schemas.openxmlformats.org/drawingml/2006/main" noGrp="1"/>
          </p:cNvSpPr>
          <p:nvPr/>
        </p:nvSpPr>
        <p:spPr>
          <a:xfrm xmlns:a="http://schemas.openxmlformats.org/drawingml/2006/main">
            <a:off x="762000" y="478155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PPO policy</a:t>
            </a:r>
          </a:p>
        </p:txBody>
      </p:sp>
      <p:sp>
        <p:nvSpPr>
          <p:cNvPr id="31" name="Sample a valid action">
            <a:extLst xmlns:a="http://schemas.openxmlformats.org/drawingml/2006/main">
              <a:ext uri="{FF2B5EF4-FFF2-40B4-BE49-F238E27FC236}">
                <a16:creationId xmlns:a16="http://schemas.microsoft.com/office/drawing/2014/main" id="{1416CE3B-0D55-4842-B561-DCE0E269604C}"/>
              </a:ext>
            </a:extLst>
          </p:cNvPr>
          <p:cNvSpPr>
            <a:spLocks xmlns:a="http://schemas.openxmlformats.org/drawingml/2006/main" noGrp="1"/>
          </p:cNvSpPr>
          <p:nvPr/>
        </p:nvSpPr>
        <p:spPr>
          <a:xfrm xmlns:a="http://schemas.openxmlformats.org/drawingml/2006/main">
            <a:off x="762000" y="5200650"/>
            <a:ext cx="2171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Sample a valid action</a:t>
            </a:r>
          </a:p>
        </p:txBody>
      </p:sp>
      <p:sp>
        <p:nvSpPr>
          <p:cNvPr id="32" name="Customer simulator">
            <a:extLst xmlns:a="http://schemas.openxmlformats.org/drawingml/2006/main">
              <a:ext uri="{FF2B5EF4-FFF2-40B4-BE49-F238E27FC236}">
                <a16:creationId xmlns:a16="http://schemas.microsoft.com/office/drawing/2014/main" id="{13BF5F12-E7D9-4DB7-9C8F-9CF3AE138FFC}"/>
              </a:ext>
            </a:extLst>
          </p:cNvPr>
          <p:cNvSpPr>
            <a:spLocks xmlns:a="http://schemas.openxmlformats.org/drawingml/2006/main" noGrp="1"/>
          </p:cNvSpPr>
          <p:nvPr/>
        </p:nvSpPr>
        <p:spPr>
          <a:xfrm xmlns:a="http://schemas.openxmlformats.org/drawingml/2006/main">
            <a:off x="337185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3" name="Customer simulator">
            <a:extLst xmlns:a="http://schemas.openxmlformats.org/drawingml/2006/main">
              <a:ext uri="{FF2B5EF4-FFF2-40B4-BE49-F238E27FC236}">
                <a16:creationId xmlns:a16="http://schemas.microsoft.com/office/drawing/2014/main" id="{633A1BAC-99BB-4AED-A80E-8978439BAE6C}"/>
              </a:ext>
            </a:extLst>
          </p:cNvPr>
          <p:cNvSpPr>
            <a:spLocks xmlns:a="http://schemas.openxmlformats.org/drawingml/2006/main" noGrp="1"/>
          </p:cNvSpPr>
          <p:nvPr/>
        </p:nvSpPr>
        <p:spPr>
          <a:xfrm xmlns:a="http://schemas.openxmlformats.org/drawingml/2006/main">
            <a:off x="35242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Customer simulator</a:t>
            </a:r>
          </a:p>
        </p:txBody>
      </p:sp>
      <p:sp>
        <p:nvSpPr>
          <p:cNvPr id="34" name="Next state and reaction">
            <a:extLst xmlns:a="http://schemas.openxmlformats.org/drawingml/2006/main">
              <a:ext uri="{FF2B5EF4-FFF2-40B4-BE49-F238E27FC236}">
                <a16:creationId xmlns:a16="http://schemas.microsoft.com/office/drawing/2014/main" id="{D814E7B2-9512-4FAA-A1EA-10A39ED9D2D5}"/>
              </a:ext>
            </a:extLst>
          </p:cNvPr>
          <p:cNvSpPr>
            <a:spLocks xmlns:a="http://schemas.openxmlformats.org/drawingml/2006/main" noGrp="1"/>
          </p:cNvSpPr>
          <p:nvPr/>
        </p:nvSpPr>
        <p:spPr>
          <a:xfrm xmlns:a="http://schemas.openxmlformats.org/drawingml/2006/main">
            <a:off x="352425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Next state and reaction</a:t>
            </a:r>
          </a:p>
        </p:txBody>
      </p:sp>
      <p:sp>
        <p:nvSpPr>
          <p:cNvPr id="35" name="Reward + rollout">
            <a:extLst xmlns:a="http://schemas.openxmlformats.org/drawingml/2006/main">
              <a:ext uri="{FF2B5EF4-FFF2-40B4-BE49-F238E27FC236}">
                <a16:creationId xmlns:a16="http://schemas.microsoft.com/office/drawing/2014/main" id="{20AD8A4F-4614-4AA3-8924-336CE4D4BE43}"/>
              </a:ext>
            </a:extLst>
          </p:cNvPr>
          <p:cNvSpPr>
            <a:spLocks xmlns:a="http://schemas.openxmlformats.org/drawingml/2006/main" noGrp="1"/>
          </p:cNvSpPr>
          <p:nvPr/>
        </p:nvSpPr>
        <p:spPr>
          <a:xfrm xmlns:a="http://schemas.openxmlformats.org/drawingml/2006/main">
            <a:off x="624840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6" name="Reward + rollout">
            <a:extLst xmlns:a="http://schemas.openxmlformats.org/drawingml/2006/main">
              <a:ext uri="{FF2B5EF4-FFF2-40B4-BE49-F238E27FC236}">
                <a16:creationId xmlns:a16="http://schemas.microsoft.com/office/drawing/2014/main" id="{3B76DEDC-D34A-4DE6-B8E5-D6D0A042C080}"/>
              </a:ext>
            </a:extLst>
          </p:cNvPr>
          <p:cNvSpPr>
            <a:spLocks xmlns:a="http://schemas.openxmlformats.org/drawingml/2006/main" noGrp="1"/>
          </p:cNvSpPr>
          <p:nvPr/>
        </p:nvSpPr>
        <p:spPr>
          <a:xfrm xmlns:a="http://schemas.openxmlformats.org/drawingml/2006/main">
            <a:off x="640080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Reward + rollout</a:t>
            </a:r>
          </a:p>
        </p:txBody>
      </p:sp>
      <p:sp>
        <p:nvSpPr>
          <p:cNvPr id="37" name="Store transition and value">
            <a:extLst xmlns:a="http://schemas.openxmlformats.org/drawingml/2006/main">
              <a:ext uri="{FF2B5EF4-FFF2-40B4-BE49-F238E27FC236}">
                <a16:creationId xmlns:a16="http://schemas.microsoft.com/office/drawing/2014/main" id="{210FB887-9AAA-48A2-9F57-36B868D5EBDF}"/>
              </a:ext>
            </a:extLst>
          </p:cNvPr>
          <p:cNvSpPr>
            <a:spLocks xmlns:a="http://schemas.openxmlformats.org/drawingml/2006/main" noGrp="1"/>
          </p:cNvSpPr>
          <p:nvPr/>
        </p:nvSpPr>
        <p:spPr>
          <a:xfrm xmlns:a="http://schemas.openxmlformats.org/drawingml/2006/main">
            <a:off x="640080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Store transition and value</a:t>
            </a:r>
          </a:p>
        </p:txBody>
      </p:sp>
      <p:sp>
        <p:nvSpPr>
          <p:cNvPr id="38" name="PPO update">
            <a:extLst xmlns:a="http://schemas.openxmlformats.org/drawingml/2006/main">
              <a:ext uri="{FF2B5EF4-FFF2-40B4-BE49-F238E27FC236}">
                <a16:creationId xmlns:a16="http://schemas.microsoft.com/office/drawing/2014/main" id="{77508194-F1C8-45B2-B4D3-F88E7311B450}"/>
              </a:ext>
            </a:extLst>
          </p:cNvPr>
          <p:cNvSpPr>
            <a:spLocks xmlns:a="http://schemas.openxmlformats.org/drawingml/2006/main" noGrp="1"/>
          </p:cNvSpPr>
          <p:nvPr/>
        </p:nvSpPr>
        <p:spPr>
          <a:xfrm xmlns:a="http://schemas.openxmlformats.org/drawingml/2006/main">
            <a:off x="9124950" y="4638675"/>
            <a:ext cx="238125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9" name="PPO update">
            <a:extLst xmlns:a="http://schemas.openxmlformats.org/drawingml/2006/main">
              <a:ext uri="{FF2B5EF4-FFF2-40B4-BE49-F238E27FC236}">
                <a16:creationId xmlns:a16="http://schemas.microsoft.com/office/drawing/2014/main" id="{F9D11606-C4CC-4541-A423-134067FCB792}"/>
              </a:ext>
            </a:extLst>
          </p:cNvPr>
          <p:cNvSpPr>
            <a:spLocks xmlns:a="http://schemas.openxmlformats.org/drawingml/2006/main" noGrp="1"/>
          </p:cNvSpPr>
          <p:nvPr/>
        </p:nvSpPr>
        <p:spPr>
          <a:xfrm xmlns:a="http://schemas.openxmlformats.org/drawingml/2006/main">
            <a:off x="9277350" y="4781550"/>
            <a:ext cx="2076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PPO update</a:t>
            </a:r>
          </a:p>
        </p:txBody>
      </p:sp>
      <p:sp>
        <p:nvSpPr>
          <p:cNvPr id="40" name="GAE, clipping and Adam">
            <a:extLst xmlns:a="http://schemas.openxmlformats.org/drawingml/2006/main">
              <a:ext uri="{FF2B5EF4-FFF2-40B4-BE49-F238E27FC236}">
                <a16:creationId xmlns:a16="http://schemas.microsoft.com/office/drawing/2014/main" id="{B283D93A-A2D6-4452-ADC4-018DB61136A6}"/>
              </a:ext>
            </a:extLst>
          </p:cNvPr>
          <p:cNvSpPr>
            <a:spLocks xmlns:a="http://schemas.openxmlformats.org/drawingml/2006/main" noGrp="1"/>
          </p:cNvSpPr>
          <p:nvPr/>
        </p:nvSpPr>
        <p:spPr>
          <a:xfrm xmlns:a="http://schemas.openxmlformats.org/drawingml/2006/main">
            <a:off x="9277350" y="5200650"/>
            <a:ext cx="2076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GAE, clipping and Adam</a:t>
            </a:r>
          </a:p>
        </p:txBody>
      </p:sp>
      <p:cxnSp>
        <p:nvCxnSpPr>
          <p:cNvPr id="85" name=""/>
          <p:cNvCxnSpPr>
            <a:stCxn xmlns:a="http://schemas.openxmlformats.org/drawingml/2006/main" id="29" idx="3"/>
            <a:endCxn xmlns:a="http://schemas.openxmlformats.org/drawingml/2006/main" id="32" idx="1"/>
          </p:cNvCxnSpPr>
          <p:nvPr/>
        </p:nvCxnSpPr>
        <p:spPr>
          <a:xfrm xmlns:a="http://schemas.openxmlformats.org/drawingml/2006/main">
            <a:off x="308610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86" name=""/>
          <p:cNvCxnSpPr>
            <a:stCxn xmlns:a="http://schemas.openxmlformats.org/drawingml/2006/main" id="32" idx="3"/>
            <a:endCxn xmlns:a="http://schemas.openxmlformats.org/drawingml/2006/main" id="35" idx="1"/>
          </p:cNvCxnSpPr>
          <p:nvPr/>
        </p:nvCxnSpPr>
        <p:spPr>
          <a:xfrm xmlns:a="http://schemas.openxmlformats.org/drawingml/2006/main">
            <a:off x="596265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87" name=""/>
          <p:cNvCxnSpPr>
            <a:stCxn xmlns:a="http://schemas.openxmlformats.org/drawingml/2006/main" id="35" idx="3"/>
            <a:endCxn xmlns:a="http://schemas.openxmlformats.org/drawingml/2006/main" id="38" idx="1"/>
          </p:cNvCxnSpPr>
          <p:nvPr/>
        </p:nvCxnSpPr>
        <p:spPr>
          <a:xfrm xmlns:a="http://schemas.openxmlformats.org/drawingml/2006/main">
            <a:off x="883920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sp>
        <p:nvSpPr>
          <p:cNvPr id="44" name="Updated policy parameters drive the next simu">
            <a:extLst xmlns:a="http://schemas.openxmlformats.org/drawingml/2006/main">
              <a:ext uri="{FF2B5EF4-FFF2-40B4-BE49-F238E27FC236}">
                <a16:creationId xmlns:a16="http://schemas.microsoft.com/office/drawing/2014/main" id="{47069AD4-4B69-4C91-974C-71277906C701}"/>
              </a:ext>
            </a:extLst>
          </p:cNvPr>
          <p:cNvSpPr>
            <a:spLocks xmlns:a="http://schemas.openxmlformats.org/drawingml/2006/main" noGrp="1"/>
          </p:cNvSpPr>
          <p:nvPr/>
        </p:nvSpPr>
        <p:spPr>
          <a:xfrm xmlns:a="http://schemas.openxmlformats.org/drawingml/2006/main">
            <a:off x="609600" y="6019800"/>
            <a:ext cx="1053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Updated policy parameters drive the next simulated rollout. Live chat uses the saved checkpoint.</a:t>
            </a:r>
          </a:p>
        </p:txBody>
      </p:sp>
    </p:spTree>
    <p:extLst>
      <p:ext uri="{BB962C8B-B14F-4D97-AF65-F5344CB8AC3E}">
        <p14:creationId xmlns:p14="http://schemas.microsoft.com/office/powerpoint/2010/main" val="523296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L Formulation">
            <a:extLst xmlns:a="http://schemas.openxmlformats.org/drawingml/2006/main">
              <a:ext uri="{FF2B5EF4-FFF2-40B4-BE49-F238E27FC236}">
                <a16:creationId xmlns:a16="http://schemas.microsoft.com/office/drawing/2014/main" id="{BFCE74E0-B8E4-4ABF-96A0-63F4EA4601B5}"/>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RL Formulation</a:t>
            </a:r>
          </a:p>
        </p:txBody>
      </p:sp>
      <p:sp>
        <p:nvSpPr>
          <p:cNvPr id="2" name="07">
            <a:extLst xmlns:a="http://schemas.openxmlformats.org/drawingml/2006/main">
              <a:ext uri="{FF2B5EF4-FFF2-40B4-BE49-F238E27FC236}">
                <a16:creationId xmlns:a16="http://schemas.microsoft.com/office/drawing/2014/main" id="{3871E042-DA2E-4875-8E7B-95E17D3371A9}"/>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07</a:t>
            </a:r>
          </a:p>
        </p:txBody>
      </p:sp>
      <p:sp>
        <p:nvSpPr>
          <p:cNvPr id="3" name="State: 94 features">
            <a:extLst xmlns:a="http://schemas.openxmlformats.org/drawingml/2006/main">
              <a:ext uri="{FF2B5EF4-FFF2-40B4-BE49-F238E27FC236}">
                <a16:creationId xmlns:a16="http://schemas.microsoft.com/office/drawing/2014/main" id="{4249EE34-0D4C-4B44-A8C3-1DC5C2903F67}"/>
              </a:ext>
            </a:extLst>
          </p:cNvPr>
          <p:cNvSpPr>
            <a:spLocks xmlns:a="http://schemas.openxmlformats.org/drawingml/2006/main" noGrp="1"/>
          </p:cNvSpPr>
          <p:nvPr/>
        </p:nvSpPr>
        <p:spPr>
          <a:xfrm xmlns:a="http://schemas.openxmlformats.org/drawingml/2006/main">
            <a:off x="609600" y="13620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State: 94 features</a:t>
            </a:r>
          </a:p>
        </p:txBody>
      </p:sp>
      <p:sp>
        <p:nvSpPr>
          <p:cNvPr id="4" name="Intent, emotion, need, objection and stage.&#10;P">
            <a:extLst xmlns:a="http://schemas.openxmlformats.org/drawingml/2006/main">
              <a:ext uri="{FF2B5EF4-FFF2-40B4-BE49-F238E27FC236}">
                <a16:creationId xmlns:a16="http://schemas.microsoft.com/office/drawing/2014/main" id="{BACD126D-A009-4EB7-AECE-ACA22E3BCE88}"/>
              </a:ext>
            </a:extLst>
          </p:cNvPr>
          <p:cNvSpPr>
            <a:spLocks xmlns:a="http://schemas.openxmlformats.org/drawingml/2006/main" noGrp="1"/>
          </p:cNvSpPr>
          <p:nvPr/>
        </p:nvSpPr>
        <p:spPr>
          <a:xfrm xmlns:a="http://schemas.openxmlformats.org/drawingml/2006/main">
            <a:off x="609600" y="1866900"/>
            <a:ext cx="53435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Intent, emotion, need, objection and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Profile, budget, coverage and recent actions.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Normalized trust, engagement and purchase intent.</a:t>
            </a:r>
          </a:p>
        </p:txBody>
      </p:sp>
      <p:sp>
        <p:nvSpPr>
          <p:cNvPr id="5" name="Action space: 16 strategies">
            <a:extLst xmlns:a="http://schemas.openxmlformats.org/drawingml/2006/main">
              <a:ext uri="{FF2B5EF4-FFF2-40B4-BE49-F238E27FC236}">
                <a16:creationId xmlns:a16="http://schemas.microsoft.com/office/drawing/2014/main" id="{B8644C95-8E86-461F-8F84-BC3A2BF3075D}"/>
              </a:ext>
            </a:extLst>
          </p:cNvPr>
          <p:cNvSpPr>
            <a:spLocks xmlns:a="http://schemas.openxmlformats.org/drawingml/2006/main" noGrp="1"/>
          </p:cNvSpPr>
          <p:nvPr/>
        </p:nvSpPr>
        <p:spPr>
          <a:xfrm xmlns:a="http://schemas.openxmlformats.org/drawingml/2006/main">
            <a:off x="609600" y="3267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Action space: 16 strategies</a:t>
            </a:r>
          </a:p>
        </p:txBody>
      </p:sp>
      <p:sp>
        <p:nvSpPr>
          <p:cNvPr id="6" name="Discovery: needs, clarification, coverage gap">
            <a:extLst xmlns:a="http://schemas.openxmlformats.org/drawingml/2006/main">
              <a:ext uri="{FF2B5EF4-FFF2-40B4-BE49-F238E27FC236}">
                <a16:creationId xmlns:a16="http://schemas.microsoft.com/office/drawing/2014/main" id="{9FAF559D-19C6-49FE-8C4F-3A414D5CA0C9}"/>
              </a:ext>
            </a:extLst>
          </p:cNvPr>
          <p:cNvSpPr>
            <a:spLocks xmlns:a="http://schemas.openxmlformats.org/drawingml/2006/main" noGrp="1"/>
          </p:cNvSpPr>
          <p:nvPr/>
        </p:nvSpPr>
        <p:spPr>
          <a:xfrm xmlns:a="http://schemas.openxmlformats.org/drawingml/2006/main">
            <a:off x="609600" y="37909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Discovery: needs, clarification, coverage gap.</a:t>
            </a:r>
          </a:p>
        </p:txBody>
      </p:sp>
      <p:sp>
        <p:nvSpPr>
          <p:cNvPr id="7" name="Education: product, value, risk, affordabilit">
            <a:extLst xmlns:a="http://schemas.openxmlformats.org/drawingml/2006/main">
              <a:ext uri="{FF2B5EF4-FFF2-40B4-BE49-F238E27FC236}">
                <a16:creationId xmlns:a16="http://schemas.microsoft.com/office/drawing/2014/main" id="{76A20F91-EBBD-4E56-92F8-9B606D6E6A57}"/>
              </a:ext>
            </a:extLst>
          </p:cNvPr>
          <p:cNvSpPr>
            <a:spLocks xmlns:a="http://schemas.openxmlformats.org/drawingml/2006/main" noGrp="1"/>
          </p:cNvSpPr>
          <p:nvPr/>
        </p:nvSpPr>
        <p:spPr>
          <a:xfrm xmlns:a="http://schemas.openxmlformats.org/drawingml/2006/main">
            <a:off x="609600" y="4229100"/>
            <a:ext cx="5362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Education: product, value, risk, affordability,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personalization and comparison.</a:t>
            </a:r>
          </a:p>
        </p:txBody>
      </p:sp>
      <p:sp>
        <p:nvSpPr>
          <p:cNvPr id="8" name="Concerns: objection handling, yes-yes, trust.">
            <a:extLst xmlns:a="http://schemas.openxmlformats.org/drawingml/2006/main">
              <a:ext uri="{FF2B5EF4-FFF2-40B4-BE49-F238E27FC236}">
                <a16:creationId xmlns:a16="http://schemas.microsoft.com/office/drawing/2014/main" id="{4C75605C-5515-4C21-B633-472DC7047240}"/>
              </a:ext>
            </a:extLst>
          </p:cNvPr>
          <p:cNvSpPr>
            <a:spLocks xmlns:a="http://schemas.openxmlformats.org/drawingml/2006/main" noGrp="1"/>
          </p:cNvSpPr>
          <p:nvPr/>
        </p:nvSpPr>
        <p:spPr>
          <a:xfrm xmlns:a="http://schemas.openxmlformats.org/drawingml/2006/main">
            <a:off x="609600" y="50101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Concerns: objection handling, yes-yes, trust.</a:t>
            </a:r>
          </a:p>
        </p:txBody>
      </p:sp>
      <p:sp>
        <p:nvSpPr>
          <p:cNvPr id="9" name="Outcomes: alternatives, commitment,&#10;follow-up">
            <a:extLst xmlns:a="http://schemas.openxmlformats.org/drawingml/2006/main">
              <a:ext uri="{FF2B5EF4-FFF2-40B4-BE49-F238E27FC236}">
                <a16:creationId xmlns:a16="http://schemas.microsoft.com/office/drawing/2014/main" id="{F1D3F070-88B2-4E67-852F-4C47BC877B8C}"/>
              </a:ext>
            </a:extLst>
          </p:cNvPr>
          <p:cNvSpPr>
            <a:spLocks xmlns:a="http://schemas.openxmlformats.org/drawingml/2006/main" noGrp="1"/>
          </p:cNvSpPr>
          <p:nvPr/>
        </p:nvSpPr>
        <p:spPr>
          <a:xfrm xmlns:a="http://schemas.openxmlformats.org/drawingml/2006/main">
            <a:off x="609600" y="5448300"/>
            <a:ext cx="5362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Outcomes: alternatives, commitment,</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follow-up and respectful rejection.</a:t>
            </a:r>
          </a:p>
        </p:txBody>
      </p:sp>
      <p:graphicFrame>
        <p:nvGraphicFramePr>
          <p:cNvPr id="21" name=""/>
          <p:cNvGraphicFramePr/>
          <p:nvPr/>
        </p:nvGraphicFramePr>
        <p:xfrm>
          <a:off xmlns:a="http://schemas.openxmlformats.org/drawingml/2006/main" x="6334125" y="1428750"/>
          <a:ext xmlns:a="http://schemas.openxmlformats.org/drawingml/2006/main" cx="5172075" cy="3886200"/>
        </p:xfrm>
        <a:graphic xmlns:a="http://schemas.openxmlformats.org/drawingml/2006/main">
          <a:graphicData uri="http://schemas.openxmlformats.org/drawingml/2006/table">
            <a:tbl>
              <a:tblPr/>
              <a:tblGrid>
                <a:gridCol w="4038600"/>
                <a:gridCol w="1133475"/>
              </a:tblGrid>
              <a:tr h="457200">
                <a:tc>
                  <a:txBody>
                    <a:bodyPr>
                      <a:noAutofit/>
                    </a:bodyPr>
                    <a:lstStyle/>
                    <a:p>
                      <a:pPr algn="l"/>
                      <a:r>
                        <a:rPr sz="1800" b="1">
                          <a:solidFill>
                            <a:srgbClr val="FFFFFF"/>
                          </a:solidFill>
                          <a:latin typeface="Arial"/>
                          <a:ea typeface="Arial"/>
                          <a:cs typeface="Arial"/>
                        </a:rPr>
                        <a:t>Selected reward event</a:t>
                      </a:r>
                    </a:p>
                  </a:txBody>
                  <a:tcPr marL="152400" marR="133350" marT="95250" marB="95250" anchor="ctr">
                    <a:solidFill>
                      <a:srgbClr val="126D55"/>
                    </a:solidFill>
                  </a:tcPr>
                </a:tc>
                <a:tc>
                  <a:txBody>
                    <a:bodyPr>
                      <a:noAutofit/>
                    </a:bodyPr>
                    <a:lstStyle/>
                    <a:p>
                      <a:pPr algn="l"/>
                      <a:r>
                        <a:rPr sz="1800" b="1">
                          <a:solidFill>
                            <a:srgbClr val="FFFFFF"/>
                          </a:solidFill>
                          <a:latin typeface="Arial"/>
                          <a:ea typeface="Arial"/>
                          <a:cs typeface="Arial"/>
                        </a:rPr>
                        <a:t>Weight</a:t>
                      </a:r>
                    </a:p>
                  </a:txBody>
                  <a:tcPr marL="152400" marR="133350" marT="95250" marB="95250" anchor="ctr">
                    <a:solidFill>
                      <a:srgbClr val="126D55"/>
                    </a:solidFill>
                  </a:tcPr>
                </a:tc>
              </a:tr>
              <a:tr h="571500">
                <a:tc>
                  <a:txBody>
                    <a:bodyPr>
                      <a:noAutofit/>
                    </a:bodyPr>
                    <a:lstStyle/>
                    <a:p>
                      <a:pPr algn="l"/>
                      <a:r>
                        <a:rPr sz="1800" b="0">
                          <a:solidFill>
                            <a:srgbClr val="182724"/>
                          </a:solidFill>
                          <a:latin typeface="Arial"/>
                          <a:ea typeface="Arial"/>
                          <a:cs typeface="Arial"/>
                        </a:rPr>
                        <a:t>Suitable purchase</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+5.0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Qualified lead</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Suitable product</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+0.5</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Pressure</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Unsupported claim</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-2.0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Unsuitable recommendation</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-3.0</a:t>
                      </a:r>
                    </a:p>
                  </a:txBody>
                  <a:tcPr marL="152400" marR="133350" marT="95250" marB="95250" anchor="ctr">
                    <a:solidFill>
                      <a:srgbClr val="F3F5F4"/>
                    </a:solidFill>
                  </a:tcPr>
                </a:tc>
              </a:tr>
            </a:tbl>
          </a:graphicData>
        </a:graphic>
      </p:graphicFrame>
      <p:sp>
        <p:nvSpPr>
          <p:cNvPr id="11" name="Action masks enforce eligibility and stop req">
            <a:extLst xmlns:a="http://schemas.openxmlformats.org/drawingml/2006/main">
              <a:ext uri="{FF2B5EF4-FFF2-40B4-BE49-F238E27FC236}">
                <a16:creationId xmlns:a16="http://schemas.microsoft.com/office/drawing/2014/main" id="{48945DEF-730B-418B-B1B6-A30C86571FFB}"/>
              </a:ext>
            </a:extLst>
          </p:cNvPr>
          <p:cNvSpPr>
            <a:spLocks xmlns:a="http://schemas.openxmlformats.org/drawingml/2006/main" noGrp="1"/>
          </p:cNvSpPr>
          <p:nvPr/>
        </p:nvSpPr>
        <p:spPr>
          <a:xfrm xmlns:a="http://schemas.openxmlformats.org/drawingml/2006/main">
            <a:off x="6334125" y="5610225"/>
            <a:ext cx="5172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Action masks enforce eligibility and stop requests.</a:t>
            </a:r>
          </a:p>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Maximum episode length: 20 turns.</a:t>
            </a:r>
          </a:p>
        </p:txBody>
      </p:sp>
    </p:spTree>
    <p:extLst>
      <p:ext uri="{BB962C8B-B14F-4D97-AF65-F5344CB8AC3E}">
        <p14:creationId xmlns:p14="http://schemas.microsoft.com/office/powerpoint/2010/main" val="19161844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PO Implementation">
            <a:extLst xmlns:a="http://schemas.openxmlformats.org/drawingml/2006/main">
              <a:ext uri="{FF2B5EF4-FFF2-40B4-BE49-F238E27FC236}">
                <a16:creationId xmlns:a16="http://schemas.microsoft.com/office/drawing/2014/main" id="{9A613929-A642-41A8-A6C6-31D0BB551D3E}"/>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PPO Implementation</a:t>
            </a:r>
          </a:p>
        </p:txBody>
      </p:sp>
      <p:sp>
        <p:nvSpPr>
          <p:cNvPr id="2" name="08">
            <a:extLst xmlns:a="http://schemas.openxmlformats.org/drawingml/2006/main">
              <a:ext uri="{FF2B5EF4-FFF2-40B4-BE49-F238E27FC236}">
                <a16:creationId xmlns:a16="http://schemas.microsoft.com/office/drawing/2014/main" id="{5AADBD00-33A0-4FEA-8B2B-2046812AF26A}"/>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08</a:t>
            </a:r>
          </a:p>
        </p:txBody>
      </p:sp>
      <p:sp>
        <p:nvSpPr>
          <p:cNvPr id="3" name="L_clip = mean[min(r A, clip(r, 0.8, 1.2) A)]">
            <a:extLst xmlns:a="http://schemas.openxmlformats.org/drawingml/2006/main">
              <a:ext uri="{FF2B5EF4-FFF2-40B4-BE49-F238E27FC236}">
                <a16:creationId xmlns:a16="http://schemas.microsoft.com/office/drawing/2014/main" id="{2AED173C-525D-4F70-80B4-25DC0E6D7FD4}"/>
              </a:ext>
            </a:extLst>
          </p:cNvPr>
          <p:cNvSpPr>
            <a:spLocks xmlns:a="http://schemas.openxmlformats.org/drawingml/2006/main" noGrp="1"/>
          </p:cNvSpPr>
          <p:nvPr/>
        </p:nvSpPr>
        <p:spPr>
          <a:xfrm xmlns:a="http://schemas.openxmlformats.org/drawingml/2006/main">
            <a:off x="609600" y="13144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6D55"/>
                </a:solidFill>
                <a:latin typeface="Arial"/>
                <a:ea typeface="Arial"/>
                <a:cs typeface="Arial"/>
              </a:defRPr>
            </a:pPr>
            <a:r>
              <a:rPr sz="2400" b="1">
                <a:solidFill>
                  <a:srgbClr val="126D55"/>
                </a:solidFill>
                <a:latin typeface="Arial"/>
                <a:ea typeface="Arial"/>
                <a:cs typeface="Arial"/>
              </a:rPr>
              <a:t>L_clip = mean[min(r A, clip(r, 0.8, 1.2) A)]</a:t>
            </a:r>
          </a:p>
        </p:txBody>
      </p:sp>
      <p:sp>
        <p:nvSpPr>
          <p:cNvPr id="4" name="r = current-policy probability / rollout-poli">
            <a:extLst xmlns:a="http://schemas.openxmlformats.org/drawingml/2006/main">
              <a:ext uri="{FF2B5EF4-FFF2-40B4-BE49-F238E27FC236}">
                <a16:creationId xmlns:a16="http://schemas.microsoft.com/office/drawing/2014/main" id="{B44F219F-2522-4583-A7F3-A87EBA392EC9}"/>
              </a:ext>
            </a:extLst>
          </p:cNvPr>
          <p:cNvSpPr>
            <a:spLocks xmlns:a="http://schemas.openxmlformats.org/drawingml/2006/main" noGrp="1"/>
          </p:cNvSpPr>
          <p:nvPr/>
        </p:nvSpPr>
        <p:spPr>
          <a:xfrm xmlns:a="http://schemas.openxmlformats.org/drawingml/2006/main">
            <a:off x="609600" y="18764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r = current-policy probability / rollout-policy probability. A = estimated advantage.</a:t>
            </a:r>
          </a:p>
        </p:txBody>
      </p:sp>
      <p:sp>
        <p:nvSpPr>
          <p:cNvPr id="5" name="Portable NumPy actor-critic">
            <a:extLst xmlns:a="http://schemas.openxmlformats.org/drawingml/2006/main">
              <a:ext uri="{FF2B5EF4-FFF2-40B4-BE49-F238E27FC236}">
                <a16:creationId xmlns:a16="http://schemas.microsoft.com/office/drawing/2014/main" id="{286414BA-056B-4A27-894E-DFEB94A301A5}"/>
              </a:ext>
            </a:extLst>
          </p:cNvPr>
          <p:cNvSpPr>
            <a:spLocks xmlns:a="http://schemas.openxmlformats.org/drawingml/2006/main" noGrp="1"/>
          </p:cNvSpPr>
          <p:nvPr/>
        </p:nvSpPr>
        <p:spPr>
          <a:xfrm xmlns:a="http://schemas.openxmlformats.org/drawingml/2006/main">
            <a:off x="609600" y="26765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Portable NumPy actor-critic</a:t>
            </a:r>
          </a:p>
        </p:txBody>
      </p:sp>
      <p:sp>
        <p:nvSpPr>
          <p:cNvPr id="6" name="Rollout">
            <a:extLst xmlns:a="http://schemas.openxmlformats.org/drawingml/2006/main">
              <a:ext uri="{FF2B5EF4-FFF2-40B4-BE49-F238E27FC236}">
                <a16:creationId xmlns:a16="http://schemas.microsoft.com/office/drawing/2014/main" id="{8DA05CCD-F7C0-4F94-AE97-C57725E2820F}"/>
              </a:ext>
            </a:extLst>
          </p:cNvPr>
          <p:cNvSpPr>
            <a:spLocks xmlns:a="http://schemas.openxmlformats.org/drawingml/2006/main" noGrp="1"/>
          </p:cNvSpPr>
          <p:nvPr/>
        </p:nvSpPr>
        <p:spPr>
          <a:xfrm xmlns:a="http://schemas.openxmlformats.org/drawingml/2006/main">
            <a:off x="609600" y="32861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Rollout</a:t>
            </a:r>
          </a:p>
        </p:txBody>
      </p:sp>
      <p:sp>
        <p:nvSpPr>
          <p:cNvPr id="7" name="Masked sampling with saved log probabilities.">
            <a:extLst xmlns:a="http://schemas.openxmlformats.org/drawingml/2006/main">
              <a:ext uri="{FF2B5EF4-FFF2-40B4-BE49-F238E27FC236}">
                <a16:creationId xmlns:a16="http://schemas.microsoft.com/office/drawing/2014/main" id="{E5A2BC98-8B3D-44D7-9527-280CF647FD41}"/>
              </a:ext>
            </a:extLst>
          </p:cNvPr>
          <p:cNvSpPr>
            <a:spLocks xmlns:a="http://schemas.openxmlformats.org/drawingml/2006/main" noGrp="1"/>
          </p:cNvSpPr>
          <p:nvPr/>
        </p:nvSpPr>
        <p:spPr>
          <a:xfrm xmlns:a="http://schemas.openxmlformats.org/drawingml/2006/main">
            <a:off x="2228850" y="3286125"/>
            <a:ext cx="3571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Masked sampling with saved log probabilities.</a:t>
            </a:r>
          </a:p>
        </p:txBody>
      </p:sp>
      <p:sp>
        <p:nvSpPr>
          <p:cNvPr id="8" name="Advantage">
            <a:extLst xmlns:a="http://schemas.openxmlformats.org/drawingml/2006/main">
              <a:ext uri="{FF2B5EF4-FFF2-40B4-BE49-F238E27FC236}">
                <a16:creationId xmlns:a16="http://schemas.microsoft.com/office/drawing/2014/main" id="{F56EAB82-2A83-4B45-848E-B756DDA9194C}"/>
              </a:ext>
            </a:extLst>
          </p:cNvPr>
          <p:cNvSpPr>
            <a:spLocks xmlns:a="http://schemas.openxmlformats.org/drawingml/2006/main" noGrp="1"/>
          </p:cNvSpPr>
          <p:nvPr/>
        </p:nvSpPr>
        <p:spPr>
          <a:xfrm xmlns:a="http://schemas.openxmlformats.org/drawingml/2006/main">
            <a:off x="609600" y="406717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Advantage</a:t>
            </a:r>
          </a:p>
        </p:txBody>
      </p:sp>
      <p:sp>
        <p:nvSpPr>
          <p:cNvPr id="9" name="GAE with raw critic targets and&#10;normalized ac">
            <a:extLst xmlns:a="http://schemas.openxmlformats.org/drawingml/2006/main">
              <a:ext uri="{FF2B5EF4-FFF2-40B4-BE49-F238E27FC236}">
                <a16:creationId xmlns:a16="http://schemas.microsoft.com/office/drawing/2014/main" id="{C5098A73-F039-4E21-B280-3B5A392E1F87}"/>
              </a:ext>
            </a:extLst>
          </p:cNvPr>
          <p:cNvSpPr>
            <a:spLocks xmlns:a="http://schemas.openxmlformats.org/drawingml/2006/main" noGrp="1"/>
          </p:cNvSpPr>
          <p:nvPr/>
        </p:nvSpPr>
        <p:spPr>
          <a:xfrm xmlns:a="http://schemas.openxmlformats.org/drawingml/2006/main">
            <a:off x="2228850" y="4067175"/>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GAE with raw critic targets and</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normalized actor advantages.</a:t>
            </a:r>
          </a:p>
        </p:txBody>
      </p:sp>
      <p:sp>
        <p:nvSpPr>
          <p:cNvPr id="10" name="Update">
            <a:extLst xmlns:a="http://schemas.openxmlformats.org/drawingml/2006/main">
              <a:ext uri="{FF2B5EF4-FFF2-40B4-BE49-F238E27FC236}">
                <a16:creationId xmlns:a16="http://schemas.microsoft.com/office/drawing/2014/main" id="{6FC5AAA3-81B0-4E15-B8B3-D884F4570942}"/>
              </a:ext>
            </a:extLst>
          </p:cNvPr>
          <p:cNvSpPr>
            <a:spLocks xmlns:a="http://schemas.openxmlformats.org/drawingml/2006/main" noGrp="1"/>
          </p:cNvSpPr>
          <p:nvPr/>
        </p:nvSpPr>
        <p:spPr>
          <a:xfrm xmlns:a="http://schemas.openxmlformats.org/drawingml/2006/main">
            <a:off x="609600" y="4953000"/>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Update</a:t>
            </a:r>
          </a:p>
        </p:txBody>
      </p:sp>
      <p:sp>
        <p:nvSpPr>
          <p:cNvPr id="11" name="Clipped objective, entropy bonus,&#10;Adam and gr">
            <a:extLst xmlns:a="http://schemas.openxmlformats.org/drawingml/2006/main">
              <a:ext uri="{FF2B5EF4-FFF2-40B4-BE49-F238E27FC236}">
                <a16:creationId xmlns:a16="http://schemas.microsoft.com/office/drawing/2014/main" id="{C4EDE649-95FD-49D7-AA03-CEB222D642F8}"/>
              </a:ext>
            </a:extLst>
          </p:cNvPr>
          <p:cNvSpPr>
            <a:spLocks xmlns:a="http://schemas.openxmlformats.org/drawingml/2006/main" noGrp="1"/>
          </p:cNvSpPr>
          <p:nvPr/>
        </p:nvSpPr>
        <p:spPr>
          <a:xfrm xmlns:a="http://schemas.openxmlformats.org/drawingml/2006/main">
            <a:off x="2228850" y="495300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Clipped objective, entropy bonus,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Adam and gradient clipping.</a:t>
            </a:r>
          </a:p>
        </p:txBody>
      </p:sp>
      <p:graphicFrame>
        <p:nvGraphicFramePr>
          <p:cNvPr id="26" name="Chart"/>
          <p:cNvGraphicFramePr/>
          <p:nvPr/>
        </p:nvGraphicFramePr>
        <p:xfrm>
          <a:off xmlns:a="http://schemas.openxmlformats.org/drawingml/2006/main" x="6372225" y="2609850"/>
          <a:ext xmlns:a="http://schemas.openxmlformats.org/drawingml/2006/main" cx="5133975" cy="3048000"/>
        </p:xfrm>
        <a:graphic xmlns:a="http://schemas.openxmlformats.org/drawingml/2006/main">
          <a:graphicData uri="http://schemas.openxmlformats.org/drawingml/2006/chart">
            <c:chart xmlns:r="http://schemas.openxmlformats.org/officeDocument/2006/relationships" xmlns:c="http://schemas.openxmlformats.org/drawingml/2006/chart" r:id="R5d59a713169a43f1"/>
          </a:graphicData>
        </a:graphic>
      </p:graphicFrame>
      <p:sp>
        <p:nvSpPr>
          <p:cNvPr id="13" name="Training timesteps">
            <a:extLst xmlns:a="http://schemas.openxmlformats.org/drawingml/2006/main">
              <a:ext uri="{FF2B5EF4-FFF2-40B4-BE49-F238E27FC236}">
                <a16:creationId xmlns:a16="http://schemas.microsoft.com/office/drawing/2014/main" id="{3E7DCBE3-B503-45A0-8BD8-5AE82A9C5C53}"/>
              </a:ext>
            </a:extLst>
          </p:cNvPr>
          <p:cNvSpPr>
            <a:spLocks xmlns:a="http://schemas.openxmlformats.org/drawingml/2006/main" noGrp="1"/>
          </p:cNvSpPr>
          <p:nvPr/>
        </p:nvSpPr>
        <p:spPr>
          <a:xfrm xmlns:a="http://schemas.openxmlformats.org/drawingml/2006/main">
            <a:off x="6858000" y="5600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45E"/>
                </a:solidFill>
                <a:latin typeface="Arial"/>
                <a:ea typeface="Arial"/>
                <a:cs typeface="Arial"/>
              </a:defRPr>
            </a:pPr>
            <a:r>
              <a:rPr sz="1725" b="0">
                <a:solidFill>
                  <a:srgbClr val="53645E"/>
                </a:solidFill>
                <a:latin typeface="Arial"/>
                <a:ea typeface="Arial"/>
                <a:cs typeface="Arial"/>
              </a:rPr>
              <a:t>Training timesteps</a:t>
            </a:r>
          </a:p>
        </p:txBody>
      </p:sp>
      <p:sp>
        <p:nvSpPr>
          <p:cNvPr id="14" name="20,000 steps per seed. Rollout 1,024. Batch 2">
            <a:extLst xmlns:a="http://schemas.openxmlformats.org/drawingml/2006/main">
              <a:ext uri="{FF2B5EF4-FFF2-40B4-BE49-F238E27FC236}">
                <a16:creationId xmlns:a16="http://schemas.microsoft.com/office/drawing/2014/main" id="{5E7AC496-9BAD-41A4-B201-161AE7648E75}"/>
              </a:ext>
            </a:extLst>
          </p:cNvPr>
          <p:cNvSpPr>
            <a:spLocks xmlns:a="http://schemas.openxmlformats.org/drawingml/2006/main" noGrp="1"/>
          </p:cNvSpPr>
          <p:nvPr/>
        </p:nvSpPr>
        <p:spPr>
          <a:xfrm xmlns:a="http://schemas.openxmlformats.org/drawingml/2006/main">
            <a:off x="609600" y="6124575"/>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20,000 steps per seed. Rollout 1,024. Batch 256. Four epochs. Learning rate 0.0003.</a:t>
            </a:r>
          </a:p>
        </p:txBody>
      </p:sp>
    </p:spTree>
    <p:extLst>
      <p:ext uri="{BB962C8B-B14F-4D97-AF65-F5344CB8AC3E}">
        <p14:creationId xmlns:p14="http://schemas.microsoft.com/office/powerpoint/2010/main" val="13511660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aluation Results">
            <a:extLst xmlns:a="http://schemas.openxmlformats.org/drawingml/2006/main">
              <a:ext uri="{FF2B5EF4-FFF2-40B4-BE49-F238E27FC236}">
                <a16:creationId xmlns:a16="http://schemas.microsoft.com/office/drawing/2014/main" id="{97C91EBF-0C0F-4BFF-AD65-B0AF9D07B894}"/>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Evaluation Results</a:t>
            </a:r>
          </a:p>
        </p:txBody>
      </p:sp>
      <p:sp>
        <p:nvSpPr>
          <p:cNvPr id="2" name="09">
            <a:extLst xmlns:a="http://schemas.openxmlformats.org/drawingml/2006/main">
              <a:ext uri="{FF2B5EF4-FFF2-40B4-BE49-F238E27FC236}">
                <a16:creationId xmlns:a16="http://schemas.microsoft.com/office/drawing/2014/main" id="{0F398871-F12D-435B-9317-4D0D09BEEAA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09</a:t>
            </a:r>
          </a:p>
        </p:txBody>
      </p:sp>
      <p:sp>
        <p:nvSpPr>
          <p:cNvPr id="3" name="Three seeds. 200 simulated evaluation episode">
            <a:extLst xmlns:a="http://schemas.openxmlformats.org/drawingml/2006/main">
              <a:ext uri="{FF2B5EF4-FFF2-40B4-BE49-F238E27FC236}">
                <a16:creationId xmlns:a16="http://schemas.microsoft.com/office/drawing/2014/main" id="{64DDC955-6879-420D-9F03-7C869729F758}"/>
              </a:ext>
            </a:extLst>
          </p:cNvPr>
          <p:cNvSpPr>
            <a:spLocks xmlns:a="http://schemas.openxmlformats.org/drawingml/2006/main" noGrp="1"/>
          </p:cNvSpPr>
          <p:nvPr/>
        </p:nvSpPr>
        <p:spPr>
          <a:xfrm xmlns:a="http://schemas.openxmlformats.org/drawingml/2006/main">
            <a:off x="609600" y="116205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Three seeds. 200 simulated evaluation episodes per seed. Point estimates below.</a:t>
            </a:r>
          </a:p>
        </p:txBody>
      </p:sp>
      <p:graphicFrame>
        <p:nvGraphicFramePr>
          <p:cNvPr id="12" name="Chart"/>
          <p:cNvGraphicFramePr/>
          <p:nvPr/>
        </p:nvGraphicFramePr>
        <p:xfrm>
          <a:off xmlns:a="http://schemas.openxmlformats.org/drawingml/2006/main" x="6096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50ec4d0969884931"/>
          </a:graphicData>
        </a:graphic>
      </p:graphicFrame>
      <p:graphicFrame>
        <p:nvGraphicFramePr>
          <p:cNvPr id="13" name="Chart"/>
          <p:cNvGraphicFramePr/>
          <p:nvPr/>
        </p:nvGraphicFramePr>
        <p:xfrm>
          <a:off xmlns:a="http://schemas.openxmlformats.org/drawingml/2006/main" x="62865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4951ca14cc7e4477"/>
          </a:graphicData>
        </a:graphic>
      </p:graphicFrame>
      <p:sp>
        <p:nvSpPr>
          <p:cNvPr id="6" name="PPO has higher reward. The rule policy conver">
            <a:extLst xmlns:a="http://schemas.openxmlformats.org/drawingml/2006/main">
              <a:ext uri="{FF2B5EF4-FFF2-40B4-BE49-F238E27FC236}">
                <a16:creationId xmlns:a16="http://schemas.microsoft.com/office/drawing/2014/main" id="{9B478B33-60F1-44BB-BA92-1311E6FB2423}"/>
              </a:ext>
            </a:extLst>
          </p:cNvPr>
          <p:cNvSpPr>
            <a:spLocks xmlns:a="http://schemas.openxmlformats.org/drawingml/2006/main" noGrp="1"/>
          </p:cNvSpPr>
          <p:nvPr/>
        </p:nvSpPr>
        <p:spPr>
          <a:xfrm xmlns:a="http://schemas.openxmlformats.org/drawingml/2006/main">
            <a:off x="609600" y="52578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PPO has higher reward. The rule policy converts more often.</a:t>
            </a:r>
          </a:p>
        </p:txBody>
      </p:sp>
      <p:sp>
        <p:nvSpPr>
          <p:cNvPr id="7" name="Objection resolution: PPO 78.2%, rule 69.7%. ">
            <a:extLst xmlns:a="http://schemas.openxmlformats.org/drawingml/2006/main">
              <a:ext uri="{FF2B5EF4-FFF2-40B4-BE49-F238E27FC236}">
                <a16:creationId xmlns:a16="http://schemas.microsoft.com/office/drawing/2014/main" id="{DA533213-31E2-4FDB-80E9-93B6452A669A}"/>
              </a:ext>
            </a:extLst>
          </p:cNvPr>
          <p:cNvSpPr>
            <a:spLocks xmlns:a="http://schemas.openxmlformats.org/drawingml/2006/main" noGrp="1"/>
          </p:cNvSpPr>
          <p:nvPr/>
        </p:nvSpPr>
        <p:spPr>
          <a:xfrm xmlns:a="http://schemas.openxmlformats.org/drawingml/2006/main">
            <a:off x="609600" y="57721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Objection resolution: PPO 78.2%, rule 69.7%. Six retrained ablations test feature and reward choices.</a:t>
            </a:r>
          </a:p>
        </p:txBody>
      </p:sp>
      <p:sp>
        <p:nvSpPr>
          <p:cNvPr id="8" name="Synthetic simulation only. Wide intervals acr">
            <a:extLst xmlns:a="http://schemas.openxmlformats.org/drawingml/2006/main">
              <a:ext uri="{FF2B5EF4-FFF2-40B4-BE49-F238E27FC236}">
                <a16:creationId xmlns:a16="http://schemas.microsoft.com/office/drawing/2014/main" id="{19B4ED90-151C-4727-A068-6DCC9B4A2954}"/>
              </a:ext>
            </a:extLst>
          </p:cNvPr>
          <p:cNvSpPr>
            <a:spLocks xmlns:a="http://schemas.openxmlformats.org/drawingml/2006/main" noGrp="1"/>
          </p:cNvSpPr>
          <p:nvPr/>
        </p:nvSpPr>
        <p:spPr>
          <a:xfrm xmlns:a="http://schemas.openxmlformats.org/drawingml/2006/main">
            <a:off x="609600" y="6191250"/>
            <a:ext cx="10534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Synthetic simulation only. Wide intervals across three seeds do not establish statistical superiority.</a:t>
            </a:r>
          </a:p>
        </p:txBody>
      </p:sp>
    </p:spTree>
    <p:extLst>
      <p:ext uri="{BB962C8B-B14F-4D97-AF65-F5344CB8AC3E}">
        <p14:creationId xmlns:p14="http://schemas.microsoft.com/office/powerpoint/2010/main" val="6715850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nstration and Remaining Work">
            <a:extLst xmlns:a="http://schemas.openxmlformats.org/drawingml/2006/main">
              <a:ext uri="{FF2B5EF4-FFF2-40B4-BE49-F238E27FC236}">
                <a16:creationId xmlns:a16="http://schemas.microsoft.com/office/drawing/2014/main" id="{93F48132-335F-42D5-B246-0A9E391E0351}"/>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Demonstration and Remaining Work</a:t>
            </a:r>
          </a:p>
        </p:txBody>
      </p:sp>
      <p:sp>
        <p:nvSpPr>
          <p:cNvPr id="2" name="10">
            <a:extLst xmlns:a="http://schemas.openxmlformats.org/drawingml/2006/main">
              <a:ext uri="{FF2B5EF4-FFF2-40B4-BE49-F238E27FC236}">
                <a16:creationId xmlns:a16="http://schemas.microsoft.com/office/drawing/2014/main" id="{A94632E2-E0A6-484E-B12F-502D90599ECC}"/>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7583d353cab419e"/>
          <a:stretch xmlns:a="http://schemas.openxmlformats.org/drawingml/2006/main"/>
        </p:blipFill>
        <p:spPr>
          <a:xfrm xmlns:a="http://schemas.openxmlformats.org/drawingml/2006/main">
            <a:off x="609600" y="1514475"/>
            <a:ext cx="7010400" cy="3943350"/>
          </a:xfrm>
          <a:prstGeom xmlns:a="http://schemas.openxmlformats.org/drawingml/2006/main" prst="rect">
            <a:avLst/>
          </a:prstGeom>
        </p:spPr>
      </p:pic>
      <p:sp>
        <p:nvSpPr>
          <p:cNvPr id="4" name="Local text demo">
            <a:extLst xmlns:a="http://schemas.openxmlformats.org/drawingml/2006/main">
              <a:ext uri="{FF2B5EF4-FFF2-40B4-BE49-F238E27FC236}">
                <a16:creationId xmlns:a16="http://schemas.microsoft.com/office/drawing/2014/main" id="{D7B2E4B1-5E20-47F1-BCF1-12967E319200}"/>
              </a:ext>
            </a:extLst>
          </p:cNvPr>
          <p:cNvSpPr>
            <a:spLocks xmlns:a="http://schemas.openxmlformats.org/drawingml/2006/main" noGrp="1"/>
          </p:cNvSpPr>
          <p:nvPr/>
        </p:nvSpPr>
        <p:spPr>
          <a:xfrm xmlns:a="http://schemas.openxmlformats.org/drawingml/2006/main">
            <a:off x="609600" y="5667375"/>
            <a:ext cx="701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6D55"/>
                </a:solidFill>
                <a:latin typeface="Arial"/>
                <a:ea typeface="Arial"/>
                <a:cs typeface="Arial"/>
              </a:defRPr>
            </a:pPr>
            <a:r>
              <a:rPr sz="2100" b="1">
                <a:solidFill>
                  <a:srgbClr val="126D55"/>
                </a:solidFill>
                <a:latin typeface="Arial"/>
                <a:ea typeface="Arial"/>
                <a:cs typeface="Arial"/>
              </a:rPr>
              <a:t>Local text demo</a:t>
            </a:r>
          </a:p>
        </p:txBody>
      </p:sp>
      <p:sp>
        <p:nvSpPr>
          <p:cNvPr id="5" name="Conversation, product catalogue and decision ">
            <a:extLst xmlns:a="http://schemas.openxmlformats.org/drawingml/2006/main">
              <a:ext uri="{FF2B5EF4-FFF2-40B4-BE49-F238E27FC236}">
                <a16:creationId xmlns:a16="http://schemas.microsoft.com/office/drawing/2014/main" id="{403DACE7-B18E-497C-832C-0415EAFB0F8F}"/>
              </a:ext>
            </a:extLst>
          </p:cNvPr>
          <p:cNvSpPr>
            <a:spLocks xmlns:a="http://schemas.openxmlformats.org/drawingml/2006/main" noGrp="1"/>
          </p:cNvSpPr>
          <p:nvPr/>
        </p:nvSpPr>
        <p:spPr>
          <a:xfrm xmlns:a="http://schemas.openxmlformats.org/drawingml/2006/main">
            <a:off x="609600" y="6076950"/>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Conversation, product catalogue and decision trace.</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http://127.0.0.1:8765/</a:t>
            </a:r>
          </a:p>
        </p:txBody>
      </p:sp>
      <p:sp>
        <p:nvSpPr>
          <p:cNvPr id="6" name="Current milestone">
            <a:extLst xmlns:a="http://schemas.openxmlformats.org/drawingml/2006/main">
              <a:ext uri="{FF2B5EF4-FFF2-40B4-BE49-F238E27FC236}">
                <a16:creationId xmlns:a16="http://schemas.microsoft.com/office/drawing/2014/main" id="{C0F28989-0B72-4590-908A-A66415D51997}"/>
              </a:ext>
            </a:extLst>
          </p:cNvPr>
          <p:cNvSpPr>
            <a:spLocks xmlns:a="http://schemas.openxmlformats.org/drawingml/2006/main" noGrp="1"/>
          </p:cNvSpPr>
          <p:nvPr/>
        </p:nvSpPr>
        <p:spPr>
          <a:xfrm xmlns:a="http://schemas.openxmlformats.org/drawingml/2006/main">
            <a:off x="8058150" y="15049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milestone</a:t>
            </a:r>
          </a:p>
        </p:txBody>
      </p:sp>
      <p:sp>
        <p:nvSpPr>
          <p:cNvPr id="7" name="Trained PPO, saved evaluation&#10;and local LLM c">
            <a:extLst xmlns:a="http://schemas.openxmlformats.org/drawingml/2006/main">
              <a:ext uri="{FF2B5EF4-FFF2-40B4-BE49-F238E27FC236}">
                <a16:creationId xmlns:a16="http://schemas.microsoft.com/office/drawing/2014/main" id="{8CFC8493-89E9-42C3-8B81-671229BC137B}"/>
              </a:ext>
            </a:extLst>
          </p:cNvPr>
          <p:cNvSpPr>
            <a:spLocks xmlns:a="http://schemas.openxmlformats.org/drawingml/2006/main" noGrp="1"/>
          </p:cNvSpPr>
          <p:nvPr/>
        </p:nvSpPr>
        <p:spPr>
          <a:xfrm xmlns:a="http://schemas.openxmlformats.org/drawingml/2006/main">
            <a:off x="8058150" y="2009775"/>
            <a:ext cx="3448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Trained PPO, saved evaluation</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and local LLM conversation.</a:t>
            </a:r>
          </a:p>
        </p:txBody>
      </p:sp>
      <p:sp>
        <p:nvSpPr>
          <p:cNvPr id="8" name="">
            <a:extLst xmlns:a="http://schemas.openxmlformats.org/drawingml/2006/main">
              <a:ext uri="{FF2B5EF4-FFF2-40B4-BE49-F238E27FC236}">
                <a16:creationId xmlns:a16="http://schemas.microsoft.com/office/drawing/2014/main" id="{E578340E-7E02-4118-8E4D-6D05E64839AF}"/>
              </a:ext>
            </a:extLst>
          </p:cNvPr>
          <p:cNvSpPr>
            <a:spLocks xmlns:a="http://schemas.openxmlformats.org/drawingml/2006/main" noGrp="1"/>
          </p:cNvSpPr>
          <p:nvPr/>
        </p:nvSpPr>
        <p:spPr>
          <a:xfrm xmlns:a="http://schemas.openxmlformats.org/drawingml/2006/main">
            <a:off x="8058150" y="30670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9" name="Next research steps">
            <a:extLst xmlns:a="http://schemas.openxmlformats.org/drawingml/2006/main">
              <a:ext uri="{FF2B5EF4-FFF2-40B4-BE49-F238E27FC236}">
                <a16:creationId xmlns:a16="http://schemas.microsoft.com/office/drawing/2014/main" id="{34310120-5932-42D5-816D-5E339471F914}"/>
              </a:ext>
            </a:extLst>
          </p:cNvPr>
          <p:cNvSpPr>
            <a:spLocks xmlns:a="http://schemas.openxmlformats.org/drawingml/2006/main" noGrp="1"/>
          </p:cNvSpPr>
          <p:nvPr/>
        </p:nvSpPr>
        <p:spPr>
          <a:xfrm xmlns:a="http://schemas.openxmlformats.org/drawingml/2006/main">
            <a:off x="8058150" y="3333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Next research steps</a:t>
            </a:r>
          </a:p>
        </p:txBody>
      </p:sp>
      <p:sp>
        <p:nvSpPr>
          <p:cNvPr id="10" name="Improve emotion and stage models.&#10;Run direct-">
            <a:extLst xmlns:a="http://schemas.openxmlformats.org/drawingml/2006/main">
              <a:ext uri="{FF2B5EF4-FFF2-40B4-BE49-F238E27FC236}">
                <a16:creationId xmlns:a16="http://schemas.microsoft.com/office/drawing/2014/main" id="{BD8E229A-A073-4F6C-85D7-93F9E1FD7B54}"/>
              </a:ext>
            </a:extLst>
          </p:cNvPr>
          <p:cNvSpPr>
            <a:spLocks xmlns:a="http://schemas.openxmlformats.org/drawingml/2006/main" noGrp="1"/>
          </p:cNvSpPr>
          <p:nvPr/>
        </p:nvSpPr>
        <p:spPr>
          <a:xfrm xmlns:a="http://schemas.openxmlformats.org/drawingml/2006/main">
            <a:off x="8058150" y="3838575"/>
            <a:ext cx="3448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Improve emotion and stage models.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Run direct-LLM and human tests.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Add voice as a later extension.</a:t>
            </a:r>
          </a:p>
        </p:txBody>
      </p:sp>
      <p:sp>
        <p:nvSpPr>
          <p:cNvPr id="11" name="">
            <a:extLst xmlns:a="http://schemas.openxmlformats.org/drawingml/2006/main">
              <a:ext uri="{FF2B5EF4-FFF2-40B4-BE49-F238E27FC236}">
                <a16:creationId xmlns:a16="http://schemas.microsoft.com/office/drawing/2014/main" id="{911665E1-B0ED-45F5-B13C-AE9321CFE322}"/>
              </a:ext>
            </a:extLst>
          </p:cNvPr>
          <p:cNvSpPr>
            <a:spLocks xmlns:a="http://schemas.openxmlformats.org/drawingml/2006/main" noGrp="1"/>
          </p:cNvSpPr>
          <p:nvPr/>
        </p:nvSpPr>
        <p:spPr>
          <a:xfrm xmlns:a="http://schemas.openxmlformats.org/drawingml/2006/main">
            <a:off x="8058150" y="53149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2" name="Research scope">
            <a:extLst xmlns:a="http://schemas.openxmlformats.org/drawingml/2006/main">
              <a:ext uri="{FF2B5EF4-FFF2-40B4-BE49-F238E27FC236}">
                <a16:creationId xmlns:a16="http://schemas.microsoft.com/office/drawing/2014/main" id="{8C1AD630-5051-4C5F-8747-D472E603A287}"/>
              </a:ext>
            </a:extLst>
          </p:cNvPr>
          <p:cNvSpPr>
            <a:spLocks xmlns:a="http://schemas.openxmlformats.org/drawingml/2006/main" noGrp="1"/>
          </p:cNvSpPr>
          <p:nvPr/>
        </p:nvSpPr>
        <p:spPr>
          <a:xfrm xmlns:a="http://schemas.openxmlformats.org/drawingml/2006/main">
            <a:off x="8058150" y="5572125"/>
            <a:ext cx="3448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3453D"/>
                </a:solidFill>
                <a:latin typeface="Arial"/>
                <a:ea typeface="Arial"/>
                <a:cs typeface="Arial"/>
              </a:defRPr>
            </a:pPr>
            <a:r>
              <a:rPr sz="2025" b="1">
                <a:solidFill>
                  <a:srgbClr val="A3453D"/>
                </a:solidFill>
                <a:latin typeface="Arial"/>
                <a:ea typeface="Arial"/>
                <a:cs typeface="Arial"/>
              </a:rPr>
              <a:t>Research scope</a:t>
            </a:r>
          </a:p>
        </p:txBody>
      </p:sp>
      <p:sp>
        <p:nvSpPr>
          <p:cNvPr id="13" name="Synthetic products. No exact prices,&#10;policy i">
            <a:extLst xmlns:a="http://schemas.openxmlformats.org/drawingml/2006/main">
              <a:ext uri="{FF2B5EF4-FFF2-40B4-BE49-F238E27FC236}">
                <a16:creationId xmlns:a16="http://schemas.microsoft.com/office/drawing/2014/main" id="{AB6B4F0C-63C9-4ED1-8C2A-7C19588C8EAF}"/>
              </a:ext>
            </a:extLst>
          </p:cNvPr>
          <p:cNvSpPr>
            <a:spLocks xmlns:a="http://schemas.openxmlformats.org/drawingml/2006/main" noGrp="1"/>
          </p:cNvSpPr>
          <p:nvPr/>
        </p:nvSpPr>
        <p:spPr>
          <a:xfrm xmlns:a="http://schemas.openxmlformats.org/drawingml/2006/main">
            <a:off x="8058150" y="6019800"/>
            <a:ext cx="3448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Synthetic products. No exact prices,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policy issuance or payment flow.</a:t>
            </a:r>
          </a:p>
        </p:txBody>
      </p:sp>
    </p:spTree>
    <p:extLst>
      <p:ext uri="{BB962C8B-B14F-4D97-AF65-F5344CB8AC3E}">
        <p14:creationId xmlns:p14="http://schemas.microsoft.com/office/powerpoint/2010/main" val="296507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2026-10-07T19:59:01.1640000Z</dcterms:created>
  <dcterms:modified xsi:type="dcterms:W3CDTF">2026-10-07T19:59:01.1640000Z</dcterms:modified>
</coreProperties>
</file>